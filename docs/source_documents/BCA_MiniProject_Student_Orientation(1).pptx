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81" r:id="rId9"/>
    <p:sldId id="262" r:id="rId10"/>
    <p:sldId id="263" r:id="rId11"/>
    <p:sldId id="264" r:id="rId12"/>
    <p:sldId id="265" r:id="rId13"/>
    <p:sldId id="282" r:id="rId14"/>
    <p:sldId id="283" r:id="rId15"/>
    <p:sldId id="266" r:id="rId16"/>
    <p:sldId id="267" r:id="rId17"/>
    <p:sldId id="268" r:id="rId18"/>
    <p:sldId id="269" r:id="rId19"/>
    <p:sldId id="270" r:id="rId20"/>
    <p:sldId id="271" r:id="rId21"/>
    <p:sldId id="284" r:id="rId22"/>
    <p:sldId id="285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0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7FCC5A-8A11-0498-02E5-C4ED4752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0A08A90-2027-34BD-22C6-B15B50C0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F4EBBAE-391B-5A69-DC63-8B082553F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08E7C0-A7FD-E3A8-F485-0B9299A7B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44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554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Project Framework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 Integration Course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3000" y="3337560"/>
            <a:ext cx="2194560" cy="36576"/>
          </a:xfrm>
          <a:prstGeom prst="rect">
            <a:avLst/>
          </a:prstGeom>
          <a:solidFill>
            <a:srgbClr val="C9D6E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Themes   ·   Four Engines   ·   Five Gates   ·   50 Marks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668797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BCA  ·  KLE Technological University, </a:t>
            </a:r>
            <a:r>
              <a:rPr lang="en-US" b="1" dirty="0" smtClean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Belagavi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5376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Orientation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ED40CDC-47CC-56D7-D802-1C30F42D6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014" y="330360"/>
            <a:ext cx="3164932" cy="491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1688" y="310840"/>
            <a:ext cx="5859185" cy="455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Are Actually Marked 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234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how it looks. Whether you can explain the decisions that make it work.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1201400" cy="676656"/>
          </a:xfrm>
          <a:prstGeom prst="roundRect">
            <a:avLst>
              <a:gd name="adj" fmla="val 8108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 model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51460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this a separate table? What repeats if you merge them?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2920" y="3273552"/>
            <a:ext cx="11201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7355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logic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27355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your rule on paper with three records. Does the code agree?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2920" y="4032504"/>
            <a:ext cx="11201400" cy="676656"/>
          </a:xfrm>
          <a:prstGeom prst="roundRect">
            <a:avLst>
              <a:gd name="adj" fmla="val 8108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032504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interfaces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403250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Engine 2 send Engine 3, and what if it sends nothing?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2920" y="4791456"/>
            <a:ext cx="11201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91456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testing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4791456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me an input right now that gives a wrong answer.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02920" y="5550408"/>
            <a:ext cx="11201400" cy="676656"/>
          </a:xfrm>
          <a:prstGeom prst="roundRect">
            <a:avLst>
              <a:gd name="adj" fmla="val 8108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55040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bugs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55504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failed, how did you find the cause, what did you change?</a:t>
            </a:r>
            <a:endParaRPr lang="en-US" dirty="0"/>
          </a:p>
        </p:txBody>
      </p:sp>
      <p:cxnSp>
        <p:nvCxnSpPr>
          <p:cNvPr id="25" name="Google Shape;97;p14">
            <a:extLst>
              <a:ext uri="{FF2B5EF4-FFF2-40B4-BE49-F238E27FC236}">
                <a16:creationId xmlns:a16="http://schemas.microsoft.com/office/drawing/2014/main" xmlns="" id="{E490732B-3687-1C14-E7D5-6A9260D6497A}"/>
              </a:ext>
            </a:extLst>
          </p:cNvPr>
          <p:cNvCxnSpPr>
            <a:cxnSpLocks/>
          </p:cNvCxnSpPr>
          <p:nvPr/>
        </p:nvCxnSpPr>
        <p:spPr>
          <a:xfrm>
            <a:off x="73891" y="766574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614813B3-5EE2-F944-A17C-C02E7941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32" name="Date Placeholder 1">
            <a:extLst>
              <a:ext uri="{FF2B5EF4-FFF2-40B4-BE49-F238E27FC236}">
                <a16:creationId xmlns:a16="http://schemas.microsoft.com/office/drawing/2014/main" xmlns="" id="{C13DB933-B660-7578-DD83-7E8314B1A12F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lide Number Placeholder 10">
            <a:extLst>
              <a:ext uri="{FF2B5EF4-FFF2-40B4-BE49-F238E27FC236}">
                <a16:creationId xmlns:a16="http://schemas.microsoft.com/office/drawing/2014/main" xmlns="" id="{517F6D54-4085-25DB-F029-E91A436E8324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83867"/>
            <a:ext cx="61292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Outcomes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36265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mark you earn is tagged to one of these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58106"/>
            <a:ext cx="118872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5810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737360" y="1658106"/>
            <a:ext cx="1001268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1658106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will be able to…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150683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50683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CO1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737360" y="2150683"/>
            <a:ext cx="10012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2150683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 the problem, its scope, the subjects it needs, and the objectives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708467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08467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CO2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737360" y="2708467"/>
            <a:ext cx="1001268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2708467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a clear requirements specification with functions, limits and workflows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3230874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3087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737360" y="3230874"/>
            <a:ext cx="10012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3230874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modular architecture — engines, data model, logic and interfaces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3753281"/>
            <a:ext cx="118872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53281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CO4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737360" y="3753281"/>
            <a:ext cx="10012680" cy="36576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28800" y="3753281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 integrated working solution using programming, data and web skills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4275688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2756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CO5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737360" y="4275688"/>
            <a:ext cx="100126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28800" y="4275688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Test, debug, correct and report the solution with evidence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912910"/>
            <a:ext cx="99434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assessment sheet, every row names the CO it proves.</a:t>
            </a:r>
            <a:endParaRPr lang="en-US" dirty="0"/>
          </a:p>
        </p:txBody>
      </p:sp>
      <p:cxnSp>
        <p:nvCxnSpPr>
          <p:cNvPr id="29" name="Google Shape;97;p14">
            <a:extLst>
              <a:ext uri="{FF2B5EF4-FFF2-40B4-BE49-F238E27FC236}">
                <a16:creationId xmlns:a16="http://schemas.microsoft.com/office/drawing/2014/main" xmlns="" id="{BF12C356-085A-0BE2-4BC6-0A8A84E9422B}"/>
              </a:ext>
            </a:extLst>
          </p:cNvPr>
          <p:cNvCxnSpPr>
            <a:cxnSpLocks/>
          </p:cNvCxnSpPr>
          <p:nvPr/>
        </p:nvCxnSpPr>
        <p:spPr>
          <a:xfrm>
            <a:off x="73891" y="766574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08D335F2-A8A5-03C0-5C3E-0483DC8A9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31" name="Date Placeholder 1">
            <a:extLst>
              <a:ext uri="{FF2B5EF4-FFF2-40B4-BE49-F238E27FC236}">
                <a16:creationId xmlns:a16="http://schemas.microsoft.com/office/drawing/2014/main" xmlns="" id="{A5730A03-9669-2997-603C-8F46204DE809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lide Number Placeholder 10">
            <a:extLst>
              <a:ext uri="{FF2B5EF4-FFF2-40B4-BE49-F238E27FC236}">
                <a16:creationId xmlns:a16="http://schemas.microsoft.com/office/drawing/2014/main" xmlns="" id="{96A11221-7DFB-CE5C-B193-8BBA4F31790F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3021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Subject Areas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5780" y="793981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theme uses all five through one working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75795"/>
            <a:ext cx="731520" cy="444958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75795"/>
            <a:ext cx="54864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34440" y="1175795"/>
            <a:ext cx="3383280" cy="444958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175795"/>
            <a:ext cx="320040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17720" y="1175795"/>
            <a:ext cx="7086600" cy="444958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175795"/>
            <a:ext cx="690372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must be visible in your project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2920" y="1694328"/>
            <a:ext cx="73152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694328"/>
            <a:ext cx="54864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234440" y="1694328"/>
            <a:ext cx="338328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1694328"/>
            <a:ext cx="320040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17720" y="1694328"/>
            <a:ext cx="708660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1694328"/>
            <a:ext cx="690372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Tables, keys, constraints, transactions, queries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2920" y="2480712"/>
            <a:ext cx="731520" cy="44495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480712"/>
            <a:ext cx="54864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234440" y="2480712"/>
            <a:ext cx="3383280" cy="44495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25880" y="2480712"/>
            <a:ext cx="320040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 &amp; Programming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17720" y="2480712"/>
            <a:ext cx="7086600" cy="44495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2480712"/>
            <a:ext cx="690372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structure or algorithm built by hand, and why it was chosen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2920" y="3267096"/>
            <a:ext cx="73152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267096"/>
            <a:ext cx="54864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234440" y="3267096"/>
            <a:ext cx="338328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25880" y="3267096"/>
            <a:ext cx="320040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Technologies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17720" y="3267096"/>
            <a:ext cx="708660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09160" y="3267096"/>
            <a:ext cx="690372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Pages, requests, checking on the server, role-based access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2920" y="4053480"/>
            <a:ext cx="731520" cy="44495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53480"/>
            <a:ext cx="54864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234440" y="4053480"/>
            <a:ext cx="3383280" cy="44495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25880" y="4053480"/>
            <a:ext cx="320040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 &amp; SDLC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17720" y="4053480"/>
            <a:ext cx="7086600" cy="44495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09160" y="4053480"/>
            <a:ext cx="690372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Requirements, testing, defect log, version control, report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02920" y="4839864"/>
            <a:ext cx="73152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4839864"/>
            <a:ext cx="54864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234440" y="4839864"/>
            <a:ext cx="338328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4839864"/>
            <a:ext cx="320040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Object-Oriented Programming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17720" y="4839864"/>
            <a:ext cx="7086600" cy="44495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9160" y="4839864"/>
            <a:ext cx="6903720" cy="44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with clear responsibility, reuse, error handling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02920" y="5359906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FBF2DE"/>
          </a:solidFill>
          <a:ln w="12700">
            <a:solidFill>
              <a:srgbClr val="E8D7A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535990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a subject appears nowhere in your project, your mentor will ask why at Gate 0 — and you can still change the design.</a:t>
            </a:r>
            <a:endParaRPr lang="en-US" dirty="0"/>
          </a:p>
        </p:txBody>
      </p:sp>
      <p:cxnSp>
        <p:nvCxnSpPr>
          <p:cNvPr id="42" name="Google Shape;97;p14">
            <a:extLst>
              <a:ext uri="{FF2B5EF4-FFF2-40B4-BE49-F238E27FC236}">
                <a16:creationId xmlns:a16="http://schemas.microsoft.com/office/drawing/2014/main" xmlns="" id="{29D5CE50-A393-80AF-DDD9-6A78ECA7E89A}"/>
              </a:ext>
            </a:extLst>
          </p:cNvPr>
          <p:cNvCxnSpPr>
            <a:cxnSpLocks/>
          </p:cNvCxnSpPr>
          <p:nvPr/>
        </p:nvCxnSpPr>
        <p:spPr>
          <a:xfrm>
            <a:off x="73891" y="766574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0F4BFABD-3598-B9D3-3B2B-8C0954E54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44" name="Date Placeholder 1">
            <a:extLst>
              <a:ext uri="{FF2B5EF4-FFF2-40B4-BE49-F238E27FC236}">
                <a16:creationId xmlns:a16="http://schemas.microsoft.com/office/drawing/2014/main" xmlns="" id="{D18C359E-0C12-0BD9-D649-BDACA2062FA1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lide Number Placeholder 10">
            <a:extLst>
              <a:ext uri="{FF2B5EF4-FFF2-40B4-BE49-F238E27FC236}">
                <a16:creationId xmlns:a16="http://schemas.microsoft.com/office/drawing/2014/main" xmlns="" id="{82D5213C-1D1D-D224-A658-FCBCA08C57B6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96427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Engines, Four Members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857965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member owns one engine. That is how you are marked as an individual.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360655"/>
            <a:ext cx="2606040" cy="3611880"/>
          </a:xfrm>
          <a:prstGeom prst="roundRect">
            <a:avLst>
              <a:gd name="adj" fmla="val 2105"/>
            </a:avLst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525247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927583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&amp; Integrity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28910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04088" y="288281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Tables, keys and constraints. Makes sure bad data cannot get in, even if the form is skipped.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04088" y="4469615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4469615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1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37560" y="1360655"/>
            <a:ext cx="2606040" cy="3611880"/>
          </a:xfrm>
          <a:prstGeom prst="roundRect">
            <a:avLst>
              <a:gd name="adj" fmla="val 2105"/>
            </a:avLst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8728" y="1525247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1927583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 &amp; Rule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28910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 &amp; Programming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538728" y="288281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calculation or rule. One structure or algorithm built by hand, with a reason for choosing it.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538728" y="4469615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176E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38728" y="4469615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2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72200" y="1360655"/>
            <a:ext cx="2606040" cy="3611880"/>
          </a:xfrm>
          <a:prstGeom prst="roundRect">
            <a:avLst>
              <a:gd name="adj" fmla="val 2105"/>
            </a:avLst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73368" y="1525247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1927583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&amp; Access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228910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Technologies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73368" y="288281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 for each role, requests to the server, and checking again on the server side.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73368" y="4469615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73368" y="4469615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3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006840" y="1360655"/>
            <a:ext cx="2606040" cy="3611880"/>
          </a:xfrm>
          <a:prstGeom prst="roundRect">
            <a:avLst>
              <a:gd name="adj" fmla="val 2105"/>
            </a:avLst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08008" y="1525247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9208008" y="1927583"/>
            <a:ext cx="2279904" cy="411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Validation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208008" y="228910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 &amp; SDLC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208008" y="2882812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table, defect log, root cause notes, version control and the final report.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9208008" y="4469615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08008" y="4469615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4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18160" y="5091177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5422" y="5077461"/>
            <a:ext cx="108022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engine is yours. At every gate you answer for it alone, and those marks cannot be transferred.</a:t>
            </a:r>
            <a:endParaRPr lang="en-US" sz="2000" dirty="0"/>
          </a:p>
        </p:txBody>
      </p:sp>
      <p:cxnSp>
        <p:nvCxnSpPr>
          <p:cNvPr id="34" name="Google Shape;97;p14">
            <a:extLst>
              <a:ext uri="{FF2B5EF4-FFF2-40B4-BE49-F238E27FC236}">
                <a16:creationId xmlns:a16="http://schemas.microsoft.com/office/drawing/2014/main" xmlns="" id="{1CEA79AB-3859-5E38-3E1A-D41131F1923A}"/>
              </a:ext>
            </a:extLst>
          </p:cNvPr>
          <p:cNvCxnSpPr>
            <a:cxnSpLocks/>
          </p:cNvCxnSpPr>
          <p:nvPr/>
        </p:nvCxnSpPr>
        <p:spPr>
          <a:xfrm>
            <a:off x="73891" y="766574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2F3778DE-EC47-8799-639C-19809D3F7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36" name="Date Placeholder 1">
            <a:extLst>
              <a:ext uri="{FF2B5EF4-FFF2-40B4-BE49-F238E27FC236}">
                <a16:creationId xmlns:a16="http://schemas.microsoft.com/office/drawing/2014/main" xmlns="" id="{E92AE83C-B170-343D-C47E-2B7E4B18BED6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lide Number Placeholder 10">
            <a:extLst>
              <a:ext uri="{FF2B5EF4-FFF2-40B4-BE49-F238E27FC236}">
                <a16:creationId xmlns:a16="http://schemas.microsoft.com/office/drawing/2014/main" xmlns="" id="{618A56DF-129E-673B-F0D3-4B1292C28D97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762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Stages, Sprints and Gates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30629" y="6518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sprint is where you work. A gate is where you are asked to account for 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39087" y="1061463"/>
            <a:ext cx="1234440" cy="482395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527" y="1061463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673527" y="1061463"/>
            <a:ext cx="4206240" cy="482395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64967" y="1061463"/>
            <a:ext cx="40233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879767" y="1061463"/>
            <a:ext cx="1280160" cy="482395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71207" y="1061463"/>
            <a:ext cx="109728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59927" y="1061463"/>
            <a:ext cx="1234440" cy="482395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51367" y="1061463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394367" y="1061463"/>
            <a:ext cx="914400" cy="482395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85807" y="1061463"/>
            <a:ext cx="73152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308767" y="1061463"/>
            <a:ext cx="2331720" cy="482395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00207" y="1061463"/>
            <a:ext cx="214884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9087" y="1820415"/>
            <a:ext cx="12344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527" y="1820415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S0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673527" y="1820415"/>
            <a:ext cx="42062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64967" y="1820415"/>
            <a:ext cx="40233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 the problem and who has it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9767" y="1820415"/>
            <a:ext cx="128016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71207" y="1820415"/>
            <a:ext cx="109728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159927" y="1820415"/>
            <a:ext cx="12344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51367" y="1820415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394367" y="1820415"/>
            <a:ext cx="91440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85807" y="1820415"/>
            <a:ext cx="73152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308767" y="1820415"/>
            <a:ext cx="233172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00207" y="1820415"/>
            <a:ext cx="214884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– 2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9087" y="2579367"/>
            <a:ext cx="123444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527" y="2579367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673527" y="2579367"/>
            <a:ext cx="420624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764967" y="2579367"/>
            <a:ext cx="40233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requirements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879767" y="2579367"/>
            <a:ext cx="128016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71207" y="2579367"/>
            <a:ext cx="109728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159927" y="2579367"/>
            <a:ext cx="123444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51367" y="2579367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394367" y="2579367"/>
            <a:ext cx="91440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85807" y="2579367"/>
            <a:ext cx="73152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308767" y="2579367"/>
            <a:ext cx="233172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00207" y="2579367"/>
            <a:ext cx="214884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– 4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39087" y="3338319"/>
            <a:ext cx="12344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0527" y="3338319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 → S3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673527" y="3338319"/>
            <a:ext cx="42062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764967" y="3338319"/>
            <a:ext cx="411480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the engines, data model and interfaces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879767" y="3338319"/>
            <a:ext cx="128016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71207" y="3338319"/>
            <a:ext cx="109728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 1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7159927" y="3338319"/>
            <a:ext cx="12344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51367" y="3338319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2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8394367" y="3338319"/>
            <a:ext cx="91440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485807" y="3338319"/>
            <a:ext cx="73152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9308767" y="3338319"/>
            <a:ext cx="233172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00207" y="3338319"/>
            <a:ext cx="214884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– 7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39087" y="4097271"/>
            <a:ext cx="123444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0527" y="4097271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S4 → S5</a:t>
            </a: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1673527" y="4097271"/>
            <a:ext cx="420624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764967" y="4097271"/>
            <a:ext cx="40233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the engines and test each one</a:t>
            </a: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879767" y="4097271"/>
            <a:ext cx="128016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971207" y="4097271"/>
            <a:ext cx="109728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 2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7159927" y="4097271"/>
            <a:ext cx="123444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251367" y="4097271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3</a:t>
            </a: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8394367" y="4097271"/>
            <a:ext cx="91440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485807" y="4097271"/>
            <a:ext cx="73152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9308767" y="4097271"/>
            <a:ext cx="2331720" cy="482395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400207" y="4097271"/>
            <a:ext cx="214884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– 11</a:t>
            </a: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439087" y="4856223"/>
            <a:ext cx="12344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0527" y="4856223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S6 → S7</a:t>
            </a: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1673527" y="4856223"/>
            <a:ext cx="42062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764967" y="4856223"/>
            <a:ext cx="40233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Fix, join the engines, validate and close</a:t>
            </a: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879767" y="4856223"/>
            <a:ext cx="128016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971207" y="4856223"/>
            <a:ext cx="109728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 3</a:t>
            </a: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7159927" y="4856223"/>
            <a:ext cx="123444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251367" y="4856223"/>
            <a:ext cx="105156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4</a:t>
            </a: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8394367" y="4856223"/>
            <a:ext cx="91440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485807" y="4856223"/>
            <a:ext cx="73152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9308767" y="4856223"/>
            <a:ext cx="2331720" cy="4823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400207" y="4856223"/>
            <a:ext cx="2148840" cy="48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– 14</a:t>
            </a: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439087" y="540017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AF3ED"/>
          </a:solidFill>
          <a:ln w="12700">
            <a:solidFill>
              <a:srgbClr val="CFE2D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02920" y="5400170"/>
            <a:ext cx="110461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gate is held, not penalised. If you have not cleared it, you do not lose marks — you do not move on.</a:t>
            </a:r>
            <a:endParaRPr lang="en-US" sz="2000" dirty="0"/>
          </a:p>
        </p:txBody>
      </p:sp>
      <p:cxnSp>
        <p:nvCxnSpPr>
          <p:cNvPr id="78" name="Google Shape;97;p14">
            <a:extLst>
              <a:ext uri="{FF2B5EF4-FFF2-40B4-BE49-F238E27FC236}">
                <a16:creationId xmlns:a16="http://schemas.microsoft.com/office/drawing/2014/main" xmlns="" id="{B904C5DB-C345-7C53-2001-2DBD0A433BF3}"/>
              </a:ext>
            </a:extLst>
          </p:cNvPr>
          <p:cNvCxnSpPr>
            <a:cxnSpLocks/>
          </p:cNvCxnSpPr>
          <p:nvPr/>
        </p:nvCxnSpPr>
        <p:spPr>
          <a:xfrm>
            <a:off x="73891" y="589122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xmlns="" id="{53B681C9-2B20-BFD8-53C8-9CD289926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80" name="Date Placeholder 1">
            <a:extLst>
              <a:ext uri="{FF2B5EF4-FFF2-40B4-BE49-F238E27FC236}">
                <a16:creationId xmlns:a16="http://schemas.microsoft.com/office/drawing/2014/main" xmlns="" id="{ED70B62A-4C55-0748-587A-F09A778A4F66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lide Number Placeholder 10">
            <a:extLst>
              <a:ext uri="{FF2B5EF4-FFF2-40B4-BE49-F238E27FC236}">
                <a16:creationId xmlns:a16="http://schemas.microsoft.com/office/drawing/2014/main" xmlns="" id="{839C45BB-10B6-37FA-D6E1-4E248E0D65E0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Mini Project in One Picture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786384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stages · Five gates · 50 marks · 14 weeks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608" y="1234440"/>
            <a:ext cx="2157984" cy="1051560"/>
          </a:xfrm>
          <a:prstGeom prst="roundRect">
            <a:avLst>
              <a:gd name="adj" fmla="val 4348"/>
            </a:avLst>
          </a:prstGeom>
          <a:solidFill>
            <a:srgbClr val="EAF1F8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13258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162763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 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20116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1 –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304288"/>
            <a:ext cx="91" cy="25603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" y="26334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29626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marks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2944368"/>
            <a:ext cx="12801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92608" y="332841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↺  HELD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V="1">
            <a:off x="804672" y="2359152"/>
            <a:ext cx="91" cy="1024128"/>
          </a:xfrm>
          <a:prstGeom prst="line">
            <a:avLst/>
          </a:prstGeom>
          <a:noFill/>
          <a:ln w="15240">
            <a:solidFill>
              <a:srgbClr val="9C4A2F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371600" y="3621024"/>
            <a:ext cx="91" cy="29260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" y="3950208"/>
            <a:ext cx="2157984" cy="160020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" y="4059936"/>
            <a:ext cx="1901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has the problem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works now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Map v1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15184" y="1234440"/>
            <a:ext cx="2157984" cy="1051560"/>
          </a:xfrm>
          <a:prstGeom prst="roundRect">
            <a:avLst>
              <a:gd name="adj" fmla="val 4348"/>
            </a:avLst>
          </a:prstGeom>
          <a:solidFill>
            <a:srgbClr val="EAF1F8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5184" y="13258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706624" y="162763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requirements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615184" y="20116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3 – 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94176" y="2304288"/>
            <a:ext cx="91" cy="30175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88336" y="26334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15184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615184" y="29626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marks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91456" y="2944368"/>
            <a:ext cx="12801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615184" y="332841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↺  HELD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 flipV="1">
            <a:off x="3127248" y="2359152"/>
            <a:ext cx="91" cy="1024128"/>
          </a:xfrm>
          <a:prstGeom prst="line">
            <a:avLst/>
          </a:prstGeom>
          <a:noFill/>
          <a:ln w="15240">
            <a:solidFill>
              <a:srgbClr val="9C4A2F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94265" y="3621024"/>
            <a:ext cx="1" cy="29260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15184" y="3950208"/>
            <a:ext cx="2157984" cy="160020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0" y="4059936"/>
            <a:ext cx="1901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 list with IDs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know it works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37760" y="1234440"/>
            <a:ext cx="2157984" cy="1051560"/>
          </a:xfrm>
          <a:prstGeom prst="roundRect">
            <a:avLst>
              <a:gd name="adj" fmla="val 4348"/>
            </a:avLst>
          </a:prstGeom>
          <a:solidFill>
            <a:srgbClr val="E4F2F1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13258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 1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162763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engines and data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937760" y="20116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5 – 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16843" y="2322576"/>
            <a:ext cx="0" cy="28346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10912" y="26334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76E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2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937760" y="29626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marks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4032" y="2944368"/>
            <a:ext cx="12801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937760" y="332841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↺  HELD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 flipV="1">
            <a:off x="5449824" y="2359152"/>
            <a:ext cx="91" cy="1024128"/>
          </a:xfrm>
          <a:prstGeom prst="line">
            <a:avLst/>
          </a:prstGeom>
          <a:noFill/>
          <a:ln w="15240">
            <a:solidFill>
              <a:srgbClr val="9C4A2F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16752" y="3621024"/>
            <a:ext cx="91" cy="29260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937760" y="3950208"/>
            <a:ext cx="2157984" cy="160020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65776" y="4059936"/>
            <a:ext cx="1901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 diagram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engines send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logic steps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260336" y="1234440"/>
            <a:ext cx="2157984" cy="1051560"/>
          </a:xfrm>
          <a:prstGeom prst="roundRect">
            <a:avLst>
              <a:gd name="adj" fmla="val 4348"/>
            </a:avLst>
          </a:prstGeom>
          <a:solidFill>
            <a:srgbClr val="EAF3ED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60336" y="13258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 2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7260336" y="16276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and test each engine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7260336" y="20116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8 – 11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39329" y="2304288"/>
            <a:ext cx="0" cy="30175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333488" y="26334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E6B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260336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3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7260336" y="29626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marks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436608" y="2944368"/>
            <a:ext cx="12801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7260336" y="332841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↺  HELD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 flipV="1">
            <a:off x="7772400" y="2359152"/>
            <a:ext cx="91" cy="1024128"/>
          </a:xfrm>
          <a:prstGeom prst="line">
            <a:avLst/>
          </a:prstGeom>
          <a:noFill/>
          <a:ln w="15240">
            <a:solidFill>
              <a:srgbClr val="9C4A2F"/>
            </a:solidFill>
            <a:prstDash val="dash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339328" y="3621024"/>
            <a:ext cx="91" cy="29260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260336" y="3950208"/>
            <a:ext cx="2157984" cy="160020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88352" y="4059936"/>
            <a:ext cx="1901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 working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 test results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Engines talking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numbers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582912" y="1234440"/>
            <a:ext cx="2157984" cy="1051560"/>
          </a:xfrm>
          <a:prstGeom prst="roundRect">
            <a:avLst>
              <a:gd name="adj" fmla="val 4348"/>
            </a:avLst>
          </a:prstGeom>
          <a:solidFill>
            <a:srgbClr val="F1EBF5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582912" y="132588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 3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9674352" y="162763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Fix, join, validate, close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9582912" y="201168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Weeks 12 – 14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661905" y="2304288"/>
            <a:ext cx="0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656064" y="2633472"/>
            <a:ext cx="201168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582912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4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9582912" y="296265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marks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9582912" y="332841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↺  HELD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 flipV="1">
            <a:off x="10094976" y="2359152"/>
            <a:ext cx="91" cy="1024128"/>
          </a:xfrm>
          <a:prstGeom prst="line">
            <a:avLst/>
          </a:prstGeom>
          <a:noFill/>
          <a:ln w="15240">
            <a:solidFill>
              <a:srgbClr val="9C4A2F"/>
            </a:solidFill>
            <a:prstDash val="dash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0661904" y="3621024"/>
            <a:ext cx="91" cy="29260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582912" y="3950208"/>
            <a:ext cx="2157984" cy="1600200"/>
          </a:xfrm>
          <a:prstGeom prst="roundRect">
            <a:avLst>
              <a:gd name="adj" fmla="val 2857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674352" y="4059936"/>
            <a:ext cx="1993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causes and fixes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Retests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system working</a:t>
            </a: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and viva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292608" y="5760720"/>
            <a:ext cx="11612880" cy="777240"/>
          </a:xfrm>
          <a:prstGeom prst="roundRect">
            <a:avLst>
              <a:gd name="adj" fmla="val 5882"/>
            </a:avLst>
          </a:prstGeom>
          <a:solidFill>
            <a:srgbClr val="FBF2DE"/>
          </a:solidFill>
          <a:ln w="12700">
            <a:solidFill>
              <a:srgbClr val="E8D7A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65760" y="5760720"/>
            <a:ext cx="11539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CLEARED → move to the next stage.        HELD → stay in this stage until the evidence is complete — no marks are lost.</a:t>
            </a:r>
            <a:endParaRPr lang="en-US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xmlns="" id="{D82C88BD-15DE-6929-7CA0-0713D8111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76" name="Date Placeholder 1">
            <a:extLst>
              <a:ext uri="{FF2B5EF4-FFF2-40B4-BE49-F238E27FC236}">
                <a16:creationId xmlns:a16="http://schemas.microsoft.com/office/drawing/2014/main" xmlns="" id="{D2E6EECD-651A-B36B-A0E3-B488BADC7A4C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lide Number Placeholder 10">
            <a:extLst>
              <a:ext uri="{FF2B5EF4-FFF2-40B4-BE49-F238E27FC236}">
                <a16:creationId xmlns:a16="http://schemas.microsoft.com/office/drawing/2014/main" xmlns="" id="{064ABBCD-FFCE-FDB5-D830-5BEB63646CD0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7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9768" y="15544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Everything Connects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658368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theme · four engines · five subjects · five gates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148840" cy="3337560"/>
          </a:xfrm>
          <a:prstGeom prst="roundRect">
            <a:avLst>
              <a:gd name="adj" fmla="val 2128"/>
            </a:avLst>
          </a:prstGeom>
          <a:solidFill>
            <a:srgbClr val="EAF1F8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554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THEME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TITLE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Rule-Checked Records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and Ranking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Ledger and Money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and MIS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SUBJECTS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GATES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141732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EAF1F8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07792" y="149047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 — Data &amp; Integrity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18196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9320" y="1417320"/>
            <a:ext cx="3017520" cy="73152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2472" y="141732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87168" y="1783080"/>
            <a:ext cx="31089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14416" y="1783080"/>
            <a:ext cx="338328" cy="91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34640" y="228600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E4F2F1"/>
          </a:solidFill>
          <a:ln w="12700">
            <a:solidFill>
              <a:srgbClr val="176E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07792" y="235915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— Logic &amp; Rule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907792" y="268833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9320" y="2286000"/>
            <a:ext cx="3017520" cy="73152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62472" y="228600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 &amp; Programming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487168" y="2651760"/>
            <a:ext cx="31089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14416" y="2651760"/>
            <a:ext cx="338328" cy="91"/>
          </a:xfrm>
          <a:prstGeom prst="line">
            <a:avLst/>
          </a:prstGeom>
          <a:noFill/>
          <a:ln w="19050">
            <a:solidFill>
              <a:srgbClr val="176E6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834640" y="31546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EAF3ED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3227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 — Interface &amp; Access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907792" y="35570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89320" y="3154680"/>
            <a:ext cx="3017520" cy="73152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62472" y="315468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Technologies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487168" y="3520440"/>
            <a:ext cx="31089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14416" y="3520440"/>
            <a:ext cx="338328" cy="91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834640" y="402336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1EBF5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34640" y="4032413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 — Testing &amp; Validation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2907792" y="4509471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89320" y="4023360"/>
            <a:ext cx="3017520" cy="73152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62472" y="4023360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 &amp; SDLC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87168" y="4389120"/>
            <a:ext cx="310896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614416" y="4389120"/>
            <a:ext cx="338328" cy="91"/>
          </a:xfrm>
          <a:prstGeom prst="line">
            <a:avLst/>
          </a:prstGeom>
          <a:noFill/>
          <a:ln w="19050">
            <a:solidFill>
              <a:srgbClr val="6B4A7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834640" y="4919472"/>
            <a:ext cx="6172200" cy="658368"/>
          </a:xfrm>
          <a:prstGeom prst="roundRect">
            <a:avLst>
              <a:gd name="adj" fmla="val 6944"/>
            </a:avLst>
          </a:prstGeom>
          <a:solidFill>
            <a:srgbClr val="FBF2DE"/>
          </a:solidFill>
          <a:ln w="12700">
            <a:solidFill>
              <a:srgbClr val="E8D7A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34640" y="4919472"/>
            <a:ext cx="6208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Object-Oriented Programming  —  runs through all four engines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9326880" y="13716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1832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042416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marks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9326880" y="2130552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418320" y="21305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0424160" y="213055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marks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9326880" y="2889504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418320" y="28895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2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10424160" y="28895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marks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9326880" y="3648456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18320" y="36484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3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10424160" y="36484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marks</a:t>
            </a: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9326880" y="4407408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418320" y="44074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4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424160" y="44074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marks</a:t>
            </a: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9043416" y="2926080"/>
            <a:ext cx="246888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3127" y="5715000"/>
            <a:ext cx="11961091" cy="822960"/>
          </a:xfrm>
          <a:prstGeom prst="roundRect">
            <a:avLst>
              <a:gd name="adj" fmla="val 5556"/>
            </a:avLst>
          </a:prstGeom>
          <a:solidFill>
            <a:srgbClr val="EAF1F8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127" y="5715000"/>
            <a:ext cx="119610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row on every gate sheet names a course outcome:   CO1 Analyse  ·  CO2 Specify  ·  CO3 Design  ·  CO4 Build  ·  CO5 Test and report</a:t>
            </a:r>
            <a:endParaRPr lang="en-US" sz="16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xmlns="" id="{A067BBB7-5B4F-1A33-DCE0-78429B81E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60" name="Date Placeholder 1">
            <a:extLst>
              <a:ext uri="{FF2B5EF4-FFF2-40B4-BE49-F238E27FC236}">
                <a16:creationId xmlns:a16="http://schemas.microsoft.com/office/drawing/2014/main" xmlns="" id="{01107017-F848-6DD7-49FD-337A80C94191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lide Number Placeholder 10">
            <a:extLst>
              <a:ext uri="{FF2B5EF4-FFF2-40B4-BE49-F238E27FC236}">
                <a16:creationId xmlns:a16="http://schemas.microsoft.com/office/drawing/2014/main" xmlns="" id="{1EC21C18-C63B-610C-A35B-E06608D18D38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8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907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You Will Be Questioned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90275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four levels at every gate — published in advance, on purpose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18165"/>
            <a:ext cx="11201400" cy="1024128"/>
          </a:xfrm>
          <a:prstGeom prst="roundRect">
            <a:avLst>
              <a:gd name="adj" fmla="val 5357"/>
            </a:avLst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118165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118165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you know what you built and why it exists?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261165"/>
            <a:ext cx="11201400" cy="1024128"/>
          </a:xfrm>
          <a:prstGeom prst="roundRect">
            <a:avLst>
              <a:gd name="adj" fmla="val 5357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61165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261165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you show the idea being used in your own work?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3404165"/>
            <a:ext cx="11201400" cy="1024128"/>
          </a:xfrm>
          <a:prstGeom prst="roundRect">
            <a:avLst>
              <a:gd name="adj" fmla="val 5357"/>
            </a:avLst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404165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404165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you find the weak point yourself?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" y="4547165"/>
            <a:ext cx="11201400" cy="1024128"/>
          </a:xfrm>
          <a:prstGeom prst="roundRect">
            <a:avLst>
              <a:gd name="adj" fmla="val 5357"/>
            </a:avLst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547165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4547165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you defend your choice against the alternative?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32245" y="5750457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you designed the system, you can answer all four. If you assembled it, you stop at Basic.</a:t>
            </a:r>
            <a:endParaRPr lang="en-US" sz="2000" dirty="0"/>
          </a:p>
        </p:txBody>
      </p:sp>
      <p:cxnSp>
        <p:nvCxnSpPr>
          <p:cNvPr id="17" name="Google Shape;97;p14">
            <a:extLst>
              <a:ext uri="{FF2B5EF4-FFF2-40B4-BE49-F238E27FC236}">
                <a16:creationId xmlns:a16="http://schemas.microsoft.com/office/drawing/2014/main" xmlns="" id="{10814EB3-900A-0176-0282-C919B3C3DE10}"/>
              </a:ext>
            </a:extLst>
          </p:cNvPr>
          <p:cNvCxnSpPr>
            <a:cxnSpLocks/>
          </p:cNvCxnSpPr>
          <p:nvPr/>
        </p:nvCxnSpPr>
        <p:spPr>
          <a:xfrm>
            <a:off x="73891" y="571427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972A8144-29D6-3CDD-7DCE-70D58FFDD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19" name="Date Placeholder 1">
            <a:extLst>
              <a:ext uri="{FF2B5EF4-FFF2-40B4-BE49-F238E27FC236}">
                <a16:creationId xmlns:a16="http://schemas.microsoft.com/office/drawing/2014/main" xmlns="" id="{197F8DAE-BADF-07B9-7963-17303EC9460D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0">
            <a:extLst>
              <a:ext uri="{FF2B5EF4-FFF2-40B4-BE49-F238E27FC236}">
                <a16:creationId xmlns:a16="http://schemas.microsoft.com/office/drawing/2014/main" xmlns="" id="{AB091999-302D-9DD0-57E8-DAF75F913B42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195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Themes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39" y="676656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under one at Gate 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6972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2575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25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257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Rule-Checked Records Register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84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"Where is this rule checked, and what stops someone skipping it?"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97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titles available  ·  4 teams per theme per division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26480" y="116972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42575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425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4257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and Ranking System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084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"Why does this result come first — did you decide that, or did the database?"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97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titles available  ·  4 teams per theme per division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2920" y="350144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5747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574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7574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Ledger and Money Systems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415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"Where did this balance come from, and can you prove it?"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2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titles available  ·  4 teams per theme per division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126480" y="350144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375747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37574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7574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Reporting and MIS System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415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"What is the denominator of that number, and who did you leave out?"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12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titles available  ·  4 teams per theme per division</a:t>
            </a:r>
            <a:endParaRPr lang="en-US" dirty="0"/>
          </a:p>
        </p:txBody>
      </p:sp>
      <p:cxnSp>
        <p:nvCxnSpPr>
          <p:cNvPr id="28" name="Google Shape;97;p14">
            <a:extLst>
              <a:ext uri="{FF2B5EF4-FFF2-40B4-BE49-F238E27FC236}">
                <a16:creationId xmlns:a16="http://schemas.microsoft.com/office/drawing/2014/main" xmlns="" id="{3D7F811E-DDA1-BA7E-5B38-06612857D778}"/>
              </a:ext>
            </a:extLst>
          </p:cNvPr>
          <p:cNvCxnSpPr>
            <a:cxnSpLocks/>
          </p:cNvCxnSpPr>
          <p:nvPr/>
        </p:nvCxnSpPr>
        <p:spPr>
          <a:xfrm>
            <a:off x="67425" y="594896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FB736ED8-031D-61FF-A9C5-0E0296502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30" name="Date Placeholder 1">
            <a:extLst>
              <a:ext uri="{FF2B5EF4-FFF2-40B4-BE49-F238E27FC236}">
                <a16:creationId xmlns:a16="http://schemas.microsoft.com/office/drawing/2014/main" xmlns="" id="{875E6FB4-3F27-A10B-4138-DFA3FAF6FDF8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lide Number Placeholder 10">
            <a:extLst>
              <a:ext uri="{FF2B5EF4-FFF2-40B4-BE49-F238E27FC236}">
                <a16:creationId xmlns:a16="http://schemas.microsoft.com/office/drawing/2014/main" xmlns="" id="{4DC1D799-84F6-04F2-8653-6F388390B003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10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493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1 — Rule-Checked Records Register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18160" y="737984"/>
            <a:ext cx="11155680" cy="56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write rules down before coding them, keep rule values in a table instead of inside the code, and check a rule in the database and not only in the form.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72440" y="1473473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one of these titles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72440" y="181946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Exam Hall Ticket Issue Register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72440" y="224923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Scholarship Eligibility Check Register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472440" y="267900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Library Fine Calculation Register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472440" y="310877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Hostel Room Priority Allotment Register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72440" y="353854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Faculty Leave Balance Register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72440" y="396830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Admission Stage-Wise Screening Register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72440" y="439807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Sports Event Entry Eligibility Register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72440" y="482784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Bus Pass Renewal and Concession Register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72440" y="525761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Laboratory Safety Clearance Register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096000" y="181946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 Internship Approval Register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224923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 Vehicle Parking Permit Register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267900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 Blood Donor Eligibility Register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6096000" y="310877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 Welfare Scheme Beneficiary Register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096000" y="353854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 Gym Membership and Slot Register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096000" y="396830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 Driving Test Slot Eligibility Register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096000" y="439807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  Trade Licence Renewal Register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6096000" y="482784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17.  Tuition Fee Concession Register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096000" y="525761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  Club Membership Rule Register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95300" y="5708163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5340" y="5708163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will ask:  "Where is this rule checked, and what stops someone skipping it?"</a:t>
            </a:r>
            <a:endParaRPr lang="en-US" dirty="0"/>
          </a:p>
        </p:txBody>
      </p:sp>
      <p:cxnSp>
        <p:nvCxnSpPr>
          <p:cNvPr id="25" name="Google Shape;97;p14">
            <a:extLst>
              <a:ext uri="{FF2B5EF4-FFF2-40B4-BE49-F238E27FC236}">
                <a16:creationId xmlns:a16="http://schemas.microsoft.com/office/drawing/2014/main" xmlns="" id="{CC1008F9-6F3E-81CD-8362-CC01AD2B9AD1}"/>
              </a:ext>
            </a:extLst>
          </p:cNvPr>
          <p:cNvCxnSpPr>
            <a:cxnSpLocks/>
          </p:cNvCxnSpPr>
          <p:nvPr/>
        </p:nvCxnSpPr>
        <p:spPr>
          <a:xfrm>
            <a:off x="73891" y="572129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6AC5F339-3D7A-0179-3F52-38D9CF778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7" name="Date Placeholder 1">
            <a:extLst>
              <a:ext uri="{FF2B5EF4-FFF2-40B4-BE49-F238E27FC236}">
                <a16:creationId xmlns:a16="http://schemas.microsoft.com/office/drawing/2014/main" xmlns="" id="{593527F8-EB02-2AA3-D240-0567E54131BA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lide Number Placeholder 10">
            <a:extLst>
              <a:ext uri="{FF2B5EF4-FFF2-40B4-BE49-F238E27FC236}">
                <a16:creationId xmlns:a16="http://schemas.microsoft.com/office/drawing/2014/main" xmlns="" id="{F57AA56E-71E1-EF05-A1A4-6D6331E53EF0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11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033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Exam Hall Ticket Issue Register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5779" y="57961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1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7491" y="1100826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1811" y="119226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90371" y="1512306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Hall tickets are held back at the counter on the morning of the exam, because a due or a shortage is found late. The student cannot fix it in time and loses the paper.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2491" y="1100826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6811" y="119226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ONE RULE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59651" y="151230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hall ticket is issued only if attendance is 75% or more in every registered subject, and there are no fee dues, no library dues and no disciplinary hold. One failing condition blocks it, and the reason must be shown.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7491" y="272332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engines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7491" y="3158226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4548" y="3174703"/>
            <a:ext cx="2473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 — Data &amp; Integrity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90371" y="3851417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1" y="4392666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 for student, subject, attendance, dues and holds. Keys and constraints so a clearance cannot point at a missing student.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42131" y="3158226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9188" y="3174703"/>
            <a:ext cx="2473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— Logic &amp; Rule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3525011" y="3722255"/>
            <a:ext cx="2240280" cy="449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 &amp; Programming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25011" y="4392666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Checks all four conditions and returns issue or block, plus every failing reason. Rule values read from a table, not typed in the code.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771" y="3158226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43828" y="3174703"/>
            <a:ext cx="2473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 — Interface &amp; Access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6359651" y="3851417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Technologies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9651" y="4392666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 for student, clerk and controller. The server checks again, so a direct request cannot skip the rules.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11411" y="3158226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78468" y="3174703"/>
            <a:ext cx="2473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 — Testing &amp; Validation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9194291" y="3851417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291" y="4392666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table covering 74.9 / 75.0 / 75.1 attendance, the defect log, root cause notes and the report.</a:t>
            </a:r>
            <a:endParaRPr lang="en-US" sz="1600" dirty="0"/>
          </a:p>
        </p:txBody>
      </p:sp>
      <p:cxnSp>
        <p:nvCxnSpPr>
          <p:cNvPr id="27" name="Google Shape;97;p14">
            <a:extLst>
              <a:ext uri="{FF2B5EF4-FFF2-40B4-BE49-F238E27FC236}">
                <a16:creationId xmlns:a16="http://schemas.microsoft.com/office/drawing/2014/main" xmlns="" id="{8C836DDB-2F4F-32AE-BF81-880260049D28}"/>
              </a:ext>
            </a:extLst>
          </p:cNvPr>
          <p:cNvCxnSpPr>
            <a:cxnSpLocks/>
          </p:cNvCxnSpPr>
          <p:nvPr/>
        </p:nvCxnSpPr>
        <p:spPr>
          <a:xfrm>
            <a:off x="44565" y="54399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EDB41E98-6A07-9FDD-5625-31A462874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9" name="Date Placeholder 1">
            <a:extLst>
              <a:ext uri="{FF2B5EF4-FFF2-40B4-BE49-F238E27FC236}">
                <a16:creationId xmlns:a16="http://schemas.microsoft.com/office/drawing/2014/main" xmlns="" id="{41135634-7159-FD3E-1551-1B2FB8B8DC85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xmlns="" id="{9E3AE46E-CB0B-A862-F888-4D062556C623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12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— Exam Hall Ticket Issue Register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786384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1 · Rule-Checked Records Register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01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737360" y="184708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28016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2801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 Clerk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0" y="184708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28016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2801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Controller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406640" y="184708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194560"/>
            <a:ext cx="8412480" cy="1051560"/>
          </a:xfrm>
          <a:prstGeom prst="roundRect">
            <a:avLst>
              <a:gd name="adj" fmla="val 4348"/>
            </a:avLst>
          </a:prstGeom>
          <a:solidFill>
            <a:srgbClr val="EAF3ED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286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 — Interface &amp; Access   (Web Technologies)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606040"/>
            <a:ext cx="8284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screens  ·  request handling  ·  the server checks again, so a direct request cannot skip the rules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91931" y="3319272"/>
            <a:ext cx="0" cy="274320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429000" y="3264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ID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6217921" y="3291840"/>
            <a:ext cx="0" cy="30175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355080" y="3264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/ block + reasons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8412480" cy="1051560"/>
          </a:xfrm>
          <a:prstGeom prst="roundRect">
            <a:avLst>
              <a:gd name="adj" fmla="val 4348"/>
            </a:avLst>
          </a:prstGeom>
          <a:solidFill>
            <a:srgbClr val="E4F2F1"/>
          </a:solidFill>
          <a:ln w="12700">
            <a:solidFill>
              <a:srgbClr val="176E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— Logic &amp; Rule   (Data Structures &amp; Programming)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023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Checks all four conditions  ·  collects every failing reason  ·  reads rule values from a table, not from the code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91840" y="4681728"/>
            <a:ext cx="91" cy="39319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42900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records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6217921" y="4663440"/>
            <a:ext cx="0" cy="34747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355080" y="4681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 + refusals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8412480" cy="1371600"/>
          </a:xfrm>
          <a:prstGeom prst="roundRect">
            <a:avLst>
              <a:gd name="adj" fmla="val 3333"/>
            </a:avLst>
          </a:prstGeom>
          <a:solidFill>
            <a:srgbClr val="EAF1F8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120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 — Data &amp; Integrity   (Database Management Systems)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440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Tables:  student  ·  subject  ·  attendance  ·  dues  ·  hold  ·  rule_value  ·  audit</a:t>
            </a:r>
            <a:endParaRPr lang="en-US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8293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i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Foreign keys and CHECK constraints refuse a bad row even when the form is skipped</a:t>
            </a:r>
            <a:endParaRPr lang="en-US" b="1" dirty="0"/>
          </a:p>
        </p:txBody>
      </p:sp>
      <p:sp>
        <p:nvSpPr>
          <p:cNvPr id="31" name="Shape 29"/>
          <p:cNvSpPr/>
          <p:nvPr/>
        </p:nvSpPr>
        <p:spPr>
          <a:xfrm>
            <a:off x="9235440" y="2194560"/>
            <a:ext cx="2606040" cy="4206240"/>
          </a:xfrm>
          <a:prstGeom prst="roundRect">
            <a:avLst>
              <a:gd name="adj" fmla="val 1754"/>
            </a:avLst>
          </a:prstGeom>
          <a:solidFill>
            <a:srgbClr val="F1EBF5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2688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Validation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2880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(Software Engineering)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32918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table at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74.9 / 75.0 / 75.1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log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 notes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control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report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 flipH="1">
            <a:off x="8997696" y="2743200"/>
            <a:ext cx="201168" cy="91"/>
          </a:xfrm>
          <a:prstGeom prst="line">
            <a:avLst/>
          </a:prstGeom>
          <a:noFill/>
          <a:ln w="19050">
            <a:solidFill>
              <a:srgbClr val="6B4A7A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8997696" y="4114800"/>
            <a:ext cx="201168" cy="91"/>
          </a:xfrm>
          <a:prstGeom prst="line">
            <a:avLst/>
          </a:prstGeom>
          <a:noFill/>
          <a:ln w="19050">
            <a:solidFill>
              <a:srgbClr val="6B4A7A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8997696" y="5669280"/>
            <a:ext cx="201168" cy="91"/>
          </a:xfrm>
          <a:prstGeom prst="line">
            <a:avLst/>
          </a:prstGeom>
          <a:noFill/>
          <a:ln w="19050">
            <a:solidFill>
              <a:srgbClr val="6B4A7A"/>
            </a:solidFill>
            <a:prstDash val="dash"/>
            <a:tailEnd type="triangle"/>
          </a:ln>
        </p:spPr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xmlns="" id="{C8EF2080-E6D4-726A-3B71-0017D351B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40" name="Date Placeholder 1">
            <a:extLst>
              <a:ext uri="{FF2B5EF4-FFF2-40B4-BE49-F238E27FC236}">
                <a16:creationId xmlns:a16="http://schemas.microsoft.com/office/drawing/2014/main" xmlns="" id="{61C479B7-6126-B713-2BF7-149B348D2A5F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lide Number Placeholder 10">
            <a:extLst>
              <a:ext uri="{FF2B5EF4-FFF2-40B4-BE49-F238E27FC236}">
                <a16:creationId xmlns:a16="http://schemas.microsoft.com/office/drawing/2014/main" xmlns="" id="{69FE623D-CC8D-5A89-9453-F255881C27C8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13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7D9BDB-BC88-502B-53CD-4B303C39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F84D342E-692E-D4D6-3383-AD9CEDDF0594}"/>
              </a:ext>
            </a:extLst>
          </p:cNvPr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— Exam Hall Ticket Eligibility Check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xmlns="" id="{8E99BAF8-C717-3B61-A573-ADAE731DCA88}"/>
              </a:ext>
            </a:extLst>
          </p:cNvPr>
          <p:cNvSpPr txBox="1"/>
          <p:nvPr/>
        </p:nvSpPr>
        <p:spPr>
          <a:xfrm>
            <a:off x="426720" y="685800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· the four checks all run, and reasons collect</a:t>
            </a: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xmlns="" id="{3A45585D-44AC-1C41-D804-552F376B8C7A}"/>
              </a:ext>
            </a:extLst>
          </p:cNvPr>
          <p:cNvSpPr/>
          <p:nvPr/>
        </p:nvSpPr>
        <p:spPr>
          <a:xfrm>
            <a:off x="6591069" y="905256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790B5862-CBFB-D70A-AFEA-D802E3345E29}"/>
              </a:ext>
            </a:extLst>
          </p:cNvPr>
          <p:cNvSpPr txBox="1"/>
          <p:nvPr/>
        </p:nvSpPr>
        <p:spPr>
          <a:xfrm>
            <a:off x="6664221" y="90525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9F123445-86B2-3BBD-F765-6F770D8FD3B5}"/>
              </a:ext>
            </a:extLst>
          </p:cNvPr>
          <p:cNvSpPr/>
          <p:nvPr/>
        </p:nvSpPr>
        <p:spPr>
          <a:xfrm>
            <a:off x="7962669" y="1344168"/>
            <a:ext cx="91" cy="128016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xmlns="" id="{C75C02AE-A51F-CE5D-A866-1EACDC877F42}"/>
              </a:ext>
            </a:extLst>
          </p:cNvPr>
          <p:cNvSpPr/>
          <p:nvPr/>
        </p:nvSpPr>
        <p:spPr>
          <a:xfrm>
            <a:off x="6591069" y="1490472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2589A505-C6CC-2F0A-1C71-BFCD64312F18}"/>
              </a:ext>
            </a:extLst>
          </p:cNvPr>
          <p:cNvSpPr txBox="1"/>
          <p:nvPr/>
        </p:nvSpPr>
        <p:spPr>
          <a:xfrm>
            <a:off x="6664221" y="149047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student ID · fetch records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xmlns="" id="{609B49B9-82CC-2C62-3309-015EBA8A7662}"/>
              </a:ext>
            </a:extLst>
          </p:cNvPr>
          <p:cNvSpPr/>
          <p:nvPr/>
        </p:nvSpPr>
        <p:spPr>
          <a:xfrm>
            <a:off x="7962669" y="1947672"/>
            <a:ext cx="91" cy="128016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xmlns="" id="{0C111862-BA5F-05CB-364D-1DE19DF00B40}"/>
              </a:ext>
            </a:extLst>
          </p:cNvPr>
          <p:cNvSpPr/>
          <p:nvPr/>
        </p:nvSpPr>
        <p:spPr>
          <a:xfrm>
            <a:off x="6591069" y="2093976"/>
            <a:ext cx="2743200" cy="566928"/>
          </a:xfrm>
          <a:prstGeom prst="diamond">
            <a:avLst/>
          </a:prstGeom>
          <a:solidFill>
            <a:srgbClr val="E4F2F1"/>
          </a:solidFill>
          <a:ln w="15240">
            <a:solidFill>
              <a:srgbClr val="176E6E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xmlns="" id="{F2406782-0B47-C673-21E5-B4C15CFC84DA}"/>
              </a:ext>
            </a:extLst>
          </p:cNvPr>
          <p:cNvSpPr txBox="1"/>
          <p:nvPr/>
        </p:nvSpPr>
        <p:spPr>
          <a:xfrm>
            <a:off x="6883677" y="209397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Attendance ≥ limit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every subject ?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xmlns="" id="{83F0EF77-051D-F534-E032-FBFC45251B32}"/>
              </a:ext>
            </a:extLst>
          </p:cNvPr>
          <p:cNvSpPr/>
          <p:nvPr/>
        </p:nvSpPr>
        <p:spPr>
          <a:xfrm>
            <a:off x="7962669" y="2679192"/>
            <a:ext cx="91" cy="14630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xmlns="" id="{4D41D0D8-84AC-CD75-4D3A-25E8FF3C2A94}"/>
              </a:ext>
            </a:extLst>
          </p:cNvPr>
          <p:cNvSpPr txBox="1"/>
          <p:nvPr/>
        </p:nvSpPr>
        <p:spPr>
          <a:xfrm>
            <a:off x="8017533" y="26609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xmlns="" id="{4423F089-36A0-BC69-3EC5-9840E902FBE6}"/>
              </a:ext>
            </a:extLst>
          </p:cNvPr>
          <p:cNvSpPr/>
          <p:nvPr/>
        </p:nvSpPr>
        <p:spPr>
          <a:xfrm>
            <a:off x="6591069" y="2843784"/>
            <a:ext cx="2743200" cy="566928"/>
          </a:xfrm>
          <a:prstGeom prst="diamond">
            <a:avLst/>
          </a:prstGeom>
          <a:solidFill>
            <a:srgbClr val="E4F2F1"/>
          </a:solidFill>
          <a:ln w="15240">
            <a:solidFill>
              <a:srgbClr val="176E6E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xmlns="" id="{B1AD6EEE-236D-5882-EAD1-A67D62022D54}"/>
              </a:ext>
            </a:extLst>
          </p:cNvPr>
          <p:cNvSpPr txBox="1"/>
          <p:nvPr/>
        </p:nvSpPr>
        <p:spPr>
          <a:xfrm>
            <a:off x="6883677" y="2843784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 dues = 0 ?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xmlns="" id="{E1A8719D-BD0D-813E-52C2-8A617535E311}"/>
              </a:ext>
            </a:extLst>
          </p:cNvPr>
          <p:cNvSpPr/>
          <p:nvPr/>
        </p:nvSpPr>
        <p:spPr>
          <a:xfrm>
            <a:off x="7962669" y="3429000"/>
            <a:ext cx="91" cy="14630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xmlns="" id="{D946CCEC-A77F-6E8F-F507-AF433E444649}"/>
              </a:ext>
            </a:extLst>
          </p:cNvPr>
          <p:cNvSpPr txBox="1"/>
          <p:nvPr/>
        </p:nvSpPr>
        <p:spPr>
          <a:xfrm>
            <a:off x="8017533" y="34107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xmlns="" id="{402B6E7D-9AA7-5AA6-C443-1D2E0FBEC810}"/>
              </a:ext>
            </a:extLst>
          </p:cNvPr>
          <p:cNvSpPr/>
          <p:nvPr/>
        </p:nvSpPr>
        <p:spPr>
          <a:xfrm>
            <a:off x="6591069" y="3593592"/>
            <a:ext cx="2743200" cy="566928"/>
          </a:xfrm>
          <a:prstGeom prst="diamond">
            <a:avLst/>
          </a:prstGeom>
          <a:solidFill>
            <a:srgbClr val="E4F2F1"/>
          </a:solidFill>
          <a:ln w="15240">
            <a:solidFill>
              <a:srgbClr val="176E6E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xmlns="" id="{50B3034E-7508-3E10-F5BF-F63875015985}"/>
              </a:ext>
            </a:extLst>
          </p:cNvPr>
          <p:cNvSpPr txBox="1"/>
          <p:nvPr/>
        </p:nvSpPr>
        <p:spPr>
          <a:xfrm>
            <a:off x="6883677" y="359359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Library dues = 0 ?</a:t>
            </a:r>
            <a:endParaRPr lang="en-US" sz="14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xmlns="" id="{B2AA6DC7-7E05-B434-EC68-2FAA7DF7D620}"/>
              </a:ext>
            </a:extLst>
          </p:cNvPr>
          <p:cNvSpPr/>
          <p:nvPr/>
        </p:nvSpPr>
        <p:spPr>
          <a:xfrm>
            <a:off x="7962669" y="4178808"/>
            <a:ext cx="91" cy="14630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xmlns="" id="{ADC17D7E-F1E3-B256-7D4E-28F1F32C8766}"/>
              </a:ext>
            </a:extLst>
          </p:cNvPr>
          <p:cNvSpPr txBox="1"/>
          <p:nvPr/>
        </p:nvSpPr>
        <p:spPr>
          <a:xfrm>
            <a:off x="8017533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4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xmlns="" id="{9F603704-B5CE-BB64-9B66-6495FAF50168}"/>
              </a:ext>
            </a:extLst>
          </p:cNvPr>
          <p:cNvSpPr/>
          <p:nvPr/>
        </p:nvSpPr>
        <p:spPr>
          <a:xfrm>
            <a:off x="6591069" y="4343400"/>
            <a:ext cx="2743200" cy="566928"/>
          </a:xfrm>
          <a:prstGeom prst="diamond">
            <a:avLst/>
          </a:prstGeom>
          <a:solidFill>
            <a:srgbClr val="E4F2F1"/>
          </a:solidFill>
          <a:ln w="15240">
            <a:solidFill>
              <a:srgbClr val="176E6E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xmlns="" id="{59ECDDB8-BF6E-EF08-0EE7-259368E5BB40}"/>
              </a:ext>
            </a:extLst>
          </p:cNvPr>
          <p:cNvSpPr txBox="1"/>
          <p:nvPr/>
        </p:nvSpPr>
        <p:spPr>
          <a:xfrm>
            <a:off x="6883677" y="434340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disciplinary hold ?</a:t>
            </a:r>
            <a:endParaRPr lang="en-US" sz="14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xmlns="" id="{01E3C1FB-6004-8D09-4C88-3C0BBA93276F}"/>
              </a:ext>
            </a:extLst>
          </p:cNvPr>
          <p:cNvSpPr/>
          <p:nvPr/>
        </p:nvSpPr>
        <p:spPr>
          <a:xfrm>
            <a:off x="7962760" y="4910328"/>
            <a:ext cx="0" cy="310896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xmlns="" id="{F16D63A5-A835-D955-FDBE-7293D45DA1FC}"/>
              </a:ext>
            </a:extLst>
          </p:cNvPr>
          <p:cNvSpPr txBox="1"/>
          <p:nvPr/>
        </p:nvSpPr>
        <p:spPr>
          <a:xfrm>
            <a:off x="8017533" y="5056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4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xmlns="" id="{801C64FB-57E1-0D7C-F041-689A7AE9C139}"/>
              </a:ext>
            </a:extLst>
          </p:cNvPr>
          <p:cNvSpPr/>
          <p:nvPr/>
        </p:nvSpPr>
        <p:spPr>
          <a:xfrm>
            <a:off x="6591069" y="5239512"/>
            <a:ext cx="2743200" cy="603504"/>
          </a:xfrm>
          <a:prstGeom prst="diamond">
            <a:avLst/>
          </a:prstGeom>
          <a:solidFill>
            <a:srgbClr val="FBF2DE"/>
          </a:solidFill>
          <a:ln w="16510">
            <a:solidFill>
              <a:srgbClr val="7A5F16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xmlns="" id="{72BDD378-8B33-88FD-67A5-308489F54E1D}"/>
              </a:ext>
            </a:extLst>
          </p:cNvPr>
          <p:cNvSpPr txBox="1"/>
          <p:nvPr/>
        </p:nvSpPr>
        <p:spPr>
          <a:xfrm>
            <a:off x="6883677" y="5239512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 list empty ?</a:t>
            </a:r>
            <a:endParaRPr lang="en-US" sz="14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xmlns="" id="{0C082202-0E06-3E63-D31E-E69A1231D209}"/>
              </a:ext>
            </a:extLst>
          </p:cNvPr>
          <p:cNvSpPr/>
          <p:nvPr/>
        </p:nvSpPr>
        <p:spPr>
          <a:xfrm>
            <a:off x="3893589" y="5303520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7EBE6"/>
          </a:solidFill>
          <a:ln w="12700">
            <a:solidFill>
              <a:srgbClr val="9C4A2F"/>
            </a:solidFill>
            <a:prstDash val="solid"/>
          </a:ln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xmlns="" id="{65A61D7F-CE4E-92D2-E9B7-16729EC57BB0}"/>
              </a:ext>
            </a:extLst>
          </p:cNvPr>
          <p:cNvSpPr txBox="1"/>
          <p:nvPr/>
        </p:nvSpPr>
        <p:spPr>
          <a:xfrm>
            <a:off x="3966741" y="5303520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BLOCK — show every reason</a:t>
            </a:r>
            <a:endParaRPr lang="en-US" sz="16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xmlns="" id="{4065A3B9-B07E-87E6-BF8A-51B1BF85C8F4}"/>
              </a:ext>
            </a:extLst>
          </p:cNvPr>
          <p:cNvSpPr/>
          <p:nvPr/>
        </p:nvSpPr>
        <p:spPr>
          <a:xfrm flipH="1">
            <a:off x="6261885" y="5541264"/>
            <a:ext cx="310896" cy="91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xmlns="" id="{8CE9712D-EEA3-8202-A13B-8375E29B797F}"/>
              </a:ext>
            </a:extLst>
          </p:cNvPr>
          <p:cNvSpPr txBox="1"/>
          <p:nvPr/>
        </p:nvSpPr>
        <p:spPr>
          <a:xfrm>
            <a:off x="6243597" y="52943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xmlns="" id="{5BBF9083-032A-202F-7B32-623B0F38EC7E}"/>
              </a:ext>
            </a:extLst>
          </p:cNvPr>
          <p:cNvSpPr/>
          <p:nvPr/>
        </p:nvSpPr>
        <p:spPr>
          <a:xfrm>
            <a:off x="9791469" y="5303520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AF3ED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xmlns="" id="{F2B46F01-B401-AA51-5494-B006DEFE9206}"/>
              </a:ext>
            </a:extLst>
          </p:cNvPr>
          <p:cNvSpPr txBox="1"/>
          <p:nvPr/>
        </p:nvSpPr>
        <p:spPr>
          <a:xfrm>
            <a:off x="9864621" y="5303520"/>
            <a:ext cx="2185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hall ticket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xmlns="" id="{6EDBD117-18F0-28B2-7038-0D146C7C5518}"/>
              </a:ext>
            </a:extLst>
          </p:cNvPr>
          <p:cNvSpPr/>
          <p:nvPr/>
        </p:nvSpPr>
        <p:spPr>
          <a:xfrm>
            <a:off x="9352557" y="5541264"/>
            <a:ext cx="393192" cy="91"/>
          </a:xfrm>
          <a:prstGeom prst="line">
            <a:avLst/>
          </a:prstGeom>
          <a:noFill/>
          <a:ln w="19050">
            <a:solidFill>
              <a:srgbClr val="2E6B4F"/>
            </a:solidFill>
            <a:prstDash val="solid"/>
            <a:tailEnd type="triangle"/>
          </a:ln>
        </p:spPr>
      </p:sp>
      <p:sp>
        <p:nvSpPr>
          <p:cNvPr id="57" name="Text 55">
            <a:extLst>
              <a:ext uri="{FF2B5EF4-FFF2-40B4-BE49-F238E27FC236}">
                <a16:creationId xmlns:a16="http://schemas.microsoft.com/office/drawing/2014/main" xmlns="" id="{ECB8108A-C082-937F-5326-D51CC7A71A79}"/>
              </a:ext>
            </a:extLst>
          </p:cNvPr>
          <p:cNvSpPr txBox="1"/>
          <p:nvPr/>
        </p:nvSpPr>
        <p:spPr>
          <a:xfrm>
            <a:off x="9352557" y="52943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4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xmlns="" id="{F51847D2-8199-286D-2E16-9D38AFB3D4D0}"/>
              </a:ext>
            </a:extLst>
          </p:cNvPr>
          <p:cNvSpPr/>
          <p:nvPr/>
        </p:nvSpPr>
        <p:spPr>
          <a:xfrm>
            <a:off x="6591069" y="6062472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9" name="Text 57">
            <a:extLst>
              <a:ext uri="{FF2B5EF4-FFF2-40B4-BE49-F238E27FC236}">
                <a16:creationId xmlns:a16="http://schemas.microsoft.com/office/drawing/2014/main" xmlns="" id="{422D7720-1977-D3DA-6D56-2F7DAD6E8DF3}"/>
              </a:ext>
            </a:extLst>
          </p:cNvPr>
          <p:cNvSpPr txBox="1"/>
          <p:nvPr/>
        </p:nvSpPr>
        <p:spPr>
          <a:xfrm>
            <a:off x="6664221" y="606247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audit entry · END</a:t>
            </a:r>
            <a:endParaRPr lang="en-US" sz="14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xmlns="" id="{E938A2E4-75D4-5AF8-7AF0-2539B26F50C6}"/>
              </a:ext>
            </a:extLst>
          </p:cNvPr>
          <p:cNvSpPr/>
          <p:nvPr/>
        </p:nvSpPr>
        <p:spPr>
          <a:xfrm>
            <a:off x="5054877" y="5797296"/>
            <a:ext cx="1499616" cy="448056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xmlns="" id="{5B09E112-E73E-EADA-E3B5-60087814A085}"/>
              </a:ext>
            </a:extLst>
          </p:cNvPr>
          <p:cNvSpPr/>
          <p:nvPr/>
        </p:nvSpPr>
        <p:spPr>
          <a:xfrm flipH="1">
            <a:off x="9389133" y="5797296"/>
            <a:ext cx="1563624" cy="448056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xmlns="" id="{2228701F-8203-39F3-DEB2-7CE0102F9E10}"/>
              </a:ext>
            </a:extLst>
          </p:cNvPr>
          <p:cNvSpPr/>
          <p:nvPr/>
        </p:nvSpPr>
        <p:spPr>
          <a:xfrm>
            <a:off x="9460992" y="535512"/>
            <a:ext cx="2596896" cy="1580736"/>
          </a:xfrm>
          <a:prstGeom prst="roundRect">
            <a:avLst>
              <a:gd name="adj" fmla="val 3333"/>
            </a:avLst>
          </a:prstGeom>
          <a:solidFill>
            <a:srgbClr val="FBF2DE"/>
          </a:solidFill>
          <a:ln w="12700">
            <a:solidFill>
              <a:srgbClr val="E8D7AE"/>
            </a:solidFill>
            <a:prstDash val="solid"/>
          </a:ln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xmlns="" id="{FFE063B2-BC6A-4660-E3B4-2DDE7DCEFE11}"/>
              </a:ext>
            </a:extLst>
          </p:cNvPr>
          <p:cNvSpPr txBox="1"/>
          <p:nvPr/>
        </p:nvSpPr>
        <p:spPr>
          <a:xfrm>
            <a:off x="9629349" y="626951"/>
            <a:ext cx="2291379" cy="29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point</a:t>
            </a:r>
            <a:endParaRPr lang="en-US" sz="16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xmlns="" id="{E8C3E44B-1DFC-E982-2E28-323F1D3F50EB}"/>
              </a:ext>
            </a:extLst>
          </p:cNvPr>
          <p:cNvSpPr txBox="1"/>
          <p:nvPr/>
        </p:nvSpPr>
        <p:spPr>
          <a:xfrm>
            <a:off x="9629349" y="901271"/>
            <a:ext cx="2291379" cy="1106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four checks run. The system does NOT stop at the first failure — the student must see every reason.</a:t>
            </a:r>
            <a:endParaRPr lang="en-US" sz="1600" dirty="0"/>
          </a:p>
        </p:txBody>
      </p:sp>
      <p:sp>
        <p:nvSpPr>
          <p:cNvPr id="87" name="Shape 16">
            <a:extLst>
              <a:ext uri="{FF2B5EF4-FFF2-40B4-BE49-F238E27FC236}">
                <a16:creationId xmlns:a16="http://schemas.microsoft.com/office/drawing/2014/main" xmlns="" id="{E2C28EB8-8738-D5C1-5D97-AA28B40FC236}"/>
              </a:ext>
            </a:extLst>
          </p:cNvPr>
          <p:cNvSpPr/>
          <p:nvPr/>
        </p:nvSpPr>
        <p:spPr>
          <a:xfrm>
            <a:off x="2476916" y="2093976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7EBE6"/>
          </a:solidFill>
          <a:ln w="12700">
            <a:solidFill>
              <a:srgbClr val="9C4A2F"/>
            </a:solidFill>
            <a:prstDash val="solid"/>
          </a:ln>
        </p:spPr>
      </p:sp>
      <p:sp>
        <p:nvSpPr>
          <p:cNvPr id="88" name="Text 17">
            <a:extLst>
              <a:ext uri="{FF2B5EF4-FFF2-40B4-BE49-F238E27FC236}">
                <a16:creationId xmlns:a16="http://schemas.microsoft.com/office/drawing/2014/main" xmlns="" id="{43EFA578-ADCB-26EF-9EF1-30303E670053}"/>
              </a:ext>
            </a:extLst>
          </p:cNvPr>
          <p:cNvSpPr txBox="1"/>
          <p:nvPr/>
        </p:nvSpPr>
        <p:spPr>
          <a:xfrm>
            <a:off x="2550068" y="2093976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reason: Attendance short</a:t>
            </a:r>
            <a:endParaRPr lang="en-US" sz="1400" dirty="0"/>
          </a:p>
        </p:txBody>
      </p:sp>
      <p:sp>
        <p:nvSpPr>
          <p:cNvPr id="89" name="Shape 25">
            <a:extLst>
              <a:ext uri="{FF2B5EF4-FFF2-40B4-BE49-F238E27FC236}">
                <a16:creationId xmlns:a16="http://schemas.microsoft.com/office/drawing/2014/main" xmlns="" id="{730C7379-70F7-B7E4-C569-5AAEF44A6316}"/>
              </a:ext>
            </a:extLst>
          </p:cNvPr>
          <p:cNvSpPr/>
          <p:nvPr/>
        </p:nvSpPr>
        <p:spPr>
          <a:xfrm>
            <a:off x="2476916" y="2843784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7EBE6"/>
          </a:solidFill>
          <a:ln w="12700">
            <a:solidFill>
              <a:srgbClr val="9C4A2F"/>
            </a:solidFill>
            <a:prstDash val="solid"/>
          </a:ln>
        </p:spPr>
      </p:sp>
      <p:sp>
        <p:nvSpPr>
          <p:cNvPr id="90" name="Text 26">
            <a:extLst>
              <a:ext uri="{FF2B5EF4-FFF2-40B4-BE49-F238E27FC236}">
                <a16:creationId xmlns:a16="http://schemas.microsoft.com/office/drawing/2014/main" xmlns="" id="{0FA1757C-85CD-1FDD-0E82-18DEAC0257F5}"/>
              </a:ext>
            </a:extLst>
          </p:cNvPr>
          <p:cNvSpPr txBox="1"/>
          <p:nvPr/>
        </p:nvSpPr>
        <p:spPr>
          <a:xfrm>
            <a:off x="2550068" y="2843784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reason: Fee dues pending</a:t>
            </a:r>
            <a:endParaRPr lang="en-US" sz="1400" dirty="0"/>
          </a:p>
        </p:txBody>
      </p:sp>
      <p:sp>
        <p:nvSpPr>
          <p:cNvPr id="91" name="Shape 34">
            <a:extLst>
              <a:ext uri="{FF2B5EF4-FFF2-40B4-BE49-F238E27FC236}">
                <a16:creationId xmlns:a16="http://schemas.microsoft.com/office/drawing/2014/main" xmlns="" id="{97193EB6-E3B9-E83F-5E3A-00A3A74B5619}"/>
              </a:ext>
            </a:extLst>
          </p:cNvPr>
          <p:cNvSpPr/>
          <p:nvPr/>
        </p:nvSpPr>
        <p:spPr>
          <a:xfrm>
            <a:off x="2476916" y="3593592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7EBE6"/>
          </a:solidFill>
          <a:ln w="12700">
            <a:solidFill>
              <a:srgbClr val="9C4A2F"/>
            </a:solidFill>
            <a:prstDash val="solid"/>
          </a:ln>
        </p:spPr>
      </p:sp>
      <p:sp>
        <p:nvSpPr>
          <p:cNvPr id="92" name="Text 35">
            <a:extLst>
              <a:ext uri="{FF2B5EF4-FFF2-40B4-BE49-F238E27FC236}">
                <a16:creationId xmlns:a16="http://schemas.microsoft.com/office/drawing/2014/main" xmlns="" id="{31CF8582-88F4-BF63-5C4B-2D1A3873E581}"/>
              </a:ext>
            </a:extLst>
          </p:cNvPr>
          <p:cNvSpPr txBox="1"/>
          <p:nvPr/>
        </p:nvSpPr>
        <p:spPr>
          <a:xfrm>
            <a:off x="2550068" y="3593592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reason: Library dues pending</a:t>
            </a:r>
            <a:endParaRPr lang="en-US" sz="1400" dirty="0"/>
          </a:p>
        </p:txBody>
      </p:sp>
      <p:sp>
        <p:nvSpPr>
          <p:cNvPr id="93" name="Shape 41">
            <a:extLst>
              <a:ext uri="{FF2B5EF4-FFF2-40B4-BE49-F238E27FC236}">
                <a16:creationId xmlns:a16="http://schemas.microsoft.com/office/drawing/2014/main" xmlns="" id="{B494AABB-725D-8550-EEE0-FA75C2C60136}"/>
              </a:ext>
            </a:extLst>
          </p:cNvPr>
          <p:cNvSpPr/>
          <p:nvPr/>
        </p:nvSpPr>
        <p:spPr>
          <a:xfrm>
            <a:off x="2476916" y="434340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7EBE6"/>
          </a:solidFill>
          <a:ln w="12700">
            <a:solidFill>
              <a:srgbClr val="9C4A2F"/>
            </a:solidFill>
            <a:prstDash val="solid"/>
          </a:ln>
        </p:spPr>
      </p:sp>
      <p:sp>
        <p:nvSpPr>
          <p:cNvPr id="94" name="Text 42">
            <a:extLst>
              <a:ext uri="{FF2B5EF4-FFF2-40B4-BE49-F238E27FC236}">
                <a16:creationId xmlns:a16="http://schemas.microsoft.com/office/drawing/2014/main" xmlns="" id="{C4497FB8-8BB7-0723-23A4-BADC83A84B8B}"/>
              </a:ext>
            </a:extLst>
          </p:cNvPr>
          <p:cNvSpPr txBox="1"/>
          <p:nvPr/>
        </p:nvSpPr>
        <p:spPr>
          <a:xfrm>
            <a:off x="2550068" y="4343400"/>
            <a:ext cx="3419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reason: Disciplinary hold</a:t>
            </a:r>
            <a:endParaRPr lang="en-US" sz="1400" dirty="0"/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xmlns="" id="{7D588D3B-8B05-76A1-9D82-DD2CD354FC3E}"/>
              </a:ext>
            </a:extLst>
          </p:cNvPr>
          <p:cNvSpPr/>
          <p:nvPr/>
        </p:nvSpPr>
        <p:spPr>
          <a:xfrm>
            <a:off x="731059" y="1948975"/>
            <a:ext cx="1097280" cy="3108960"/>
          </a:xfrm>
          <a:prstGeom prst="roundRect">
            <a:avLst>
              <a:gd name="adj" fmla="val 4167"/>
            </a:avLst>
          </a:prstGeom>
          <a:solidFill>
            <a:srgbClr val="F7EBE6"/>
          </a:solidFill>
          <a:ln w="12700">
            <a:solidFill>
              <a:srgbClr val="9C4A2F"/>
            </a:solidFill>
            <a:prstDash val="solid"/>
          </a:ln>
        </p:spPr>
      </p:sp>
      <p:sp>
        <p:nvSpPr>
          <p:cNvPr id="96" name="Text 9">
            <a:extLst>
              <a:ext uri="{FF2B5EF4-FFF2-40B4-BE49-F238E27FC236}">
                <a16:creationId xmlns:a16="http://schemas.microsoft.com/office/drawing/2014/main" xmlns="" id="{FE36D579-1B1E-D523-7F0D-FC2DDAD16901}"/>
              </a:ext>
            </a:extLst>
          </p:cNvPr>
          <p:cNvSpPr txBox="1"/>
          <p:nvPr/>
        </p:nvSpPr>
        <p:spPr>
          <a:xfrm>
            <a:off x="776779" y="3155983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</a:t>
            </a:r>
            <a:endParaRPr lang="en-US" sz="1400" dirty="0"/>
          </a:p>
        </p:txBody>
      </p:sp>
      <p:sp>
        <p:nvSpPr>
          <p:cNvPr id="97" name="Shape 18">
            <a:extLst>
              <a:ext uri="{FF2B5EF4-FFF2-40B4-BE49-F238E27FC236}">
                <a16:creationId xmlns:a16="http://schemas.microsoft.com/office/drawing/2014/main" xmlns="" id="{98A51789-A240-4267-0E0F-A9580FB1836C}"/>
              </a:ext>
            </a:extLst>
          </p:cNvPr>
          <p:cNvSpPr/>
          <p:nvPr/>
        </p:nvSpPr>
        <p:spPr>
          <a:xfrm flipH="1">
            <a:off x="1828339" y="2348738"/>
            <a:ext cx="648576" cy="0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98" name="Shape 18">
            <a:extLst>
              <a:ext uri="{FF2B5EF4-FFF2-40B4-BE49-F238E27FC236}">
                <a16:creationId xmlns:a16="http://schemas.microsoft.com/office/drawing/2014/main" xmlns="" id="{3F8328D1-08FB-8463-1F78-D37D4450FA5F}"/>
              </a:ext>
            </a:extLst>
          </p:cNvPr>
          <p:cNvSpPr/>
          <p:nvPr/>
        </p:nvSpPr>
        <p:spPr>
          <a:xfrm flipH="1">
            <a:off x="1828339" y="3055319"/>
            <a:ext cx="648576" cy="0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99" name="Shape 18">
            <a:extLst>
              <a:ext uri="{FF2B5EF4-FFF2-40B4-BE49-F238E27FC236}">
                <a16:creationId xmlns:a16="http://schemas.microsoft.com/office/drawing/2014/main" xmlns="" id="{0764B87F-63F0-D2C6-5DCD-8770E5C7B048}"/>
              </a:ext>
            </a:extLst>
          </p:cNvPr>
          <p:cNvSpPr/>
          <p:nvPr/>
        </p:nvSpPr>
        <p:spPr>
          <a:xfrm flipH="1">
            <a:off x="1828340" y="3858883"/>
            <a:ext cx="648576" cy="0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100" name="Shape 18">
            <a:extLst>
              <a:ext uri="{FF2B5EF4-FFF2-40B4-BE49-F238E27FC236}">
                <a16:creationId xmlns:a16="http://schemas.microsoft.com/office/drawing/2014/main" xmlns="" id="{35671A67-9CD2-439E-6B68-1031CE207C97}"/>
              </a:ext>
            </a:extLst>
          </p:cNvPr>
          <p:cNvSpPr/>
          <p:nvPr/>
        </p:nvSpPr>
        <p:spPr>
          <a:xfrm flipH="1">
            <a:off x="1828340" y="4570083"/>
            <a:ext cx="648576" cy="0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101" name="Shape 18">
            <a:extLst>
              <a:ext uri="{FF2B5EF4-FFF2-40B4-BE49-F238E27FC236}">
                <a16:creationId xmlns:a16="http://schemas.microsoft.com/office/drawing/2014/main" xmlns="" id="{90481103-86E3-6A68-8FE2-B5AA9BEF44BD}"/>
              </a:ext>
            </a:extLst>
          </p:cNvPr>
          <p:cNvSpPr/>
          <p:nvPr/>
        </p:nvSpPr>
        <p:spPr>
          <a:xfrm flipH="1" flipV="1">
            <a:off x="6015645" y="2376446"/>
            <a:ext cx="557136" cy="10414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102" name="Shape 18">
            <a:extLst>
              <a:ext uri="{FF2B5EF4-FFF2-40B4-BE49-F238E27FC236}">
                <a16:creationId xmlns:a16="http://schemas.microsoft.com/office/drawing/2014/main" xmlns="" id="{C104A04C-E795-FC21-F757-76CEC89FB47B}"/>
              </a:ext>
            </a:extLst>
          </p:cNvPr>
          <p:cNvSpPr/>
          <p:nvPr/>
        </p:nvSpPr>
        <p:spPr>
          <a:xfrm flipH="1" flipV="1">
            <a:off x="6033933" y="3110887"/>
            <a:ext cx="557136" cy="10414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103" name="Shape 18">
            <a:extLst>
              <a:ext uri="{FF2B5EF4-FFF2-40B4-BE49-F238E27FC236}">
                <a16:creationId xmlns:a16="http://schemas.microsoft.com/office/drawing/2014/main" xmlns="" id="{B368EC42-C9B1-DE4D-DD54-804806988B6F}"/>
              </a:ext>
            </a:extLst>
          </p:cNvPr>
          <p:cNvSpPr/>
          <p:nvPr/>
        </p:nvSpPr>
        <p:spPr>
          <a:xfrm flipH="1" flipV="1">
            <a:off x="6018000" y="3866642"/>
            <a:ext cx="557136" cy="10414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104" name="Shape 18">
            <a:extLst>
              <a:ext uri="{FF2B5EF4-FFF2-40B4-BE49-F238E27FC236}">
                <a16:creationId xmlns:a16="http://schemas.microsoft.com/office/drawing/2014/main" xmlns="" id="{FD41B946-55F1-12DA-903C-5D5C5880529A}"/>
              </a:ext>
            </a:extLst>
          </p:cNvPr>
          <p:cNvSpPr/>
          <p:nvPr/>
        </p:nvSpPr>
        <p:spPr>
          <a:xfrm flipH="1" flipV="1">
            <a:off x="6052545" y="4616450"/>
            <a:ext cx="557136" cy="10414"/>
          </a:xfrm>
          <a:prstGeom prst="line">
            <a:avLst/>
          </a:prstGeom>
          <a:noFill/>
          <a:ln w="19050">
            <a:solidFill>
              <a:srgbClr val="9C4A2F"/>
            </a:solidFill>
            <a:prstDash val="solid"/>
            <a:tailEnd type="triangle"/>
          </a:ln>
        </p:spPr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xmlns="" id="{02B643EA-AB98-8EBC-CA18-1AC3E532F279}"/>
              </a:ext>
            </a:extLst>
          </p:cNvPr>
          <p:cNvSpPr txBox="1"/>
          <p:nvPr/>
        </p:nvSpPr>
        <p:spPr>
          <a:xfrm>
            <a:off x="6169799" y="210212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400" dirty="0"/>
          </a:p>
        </p:txBody>
      </p:sp>
      <p:sp>
        <p:nvSpPr>
          <p:cNvPr id="106" name="Text 14">
            <a:extLst>
              <a:ext uri="{FF2B5EF4-FFF2-40B4-BE49-F238E27FC236}">
                <a16:creationId xmlns:a16="http://schemas.microsoft.com/office/drawing/2014/main" xmlns="" id="{0D7B3E3A-31E1-553D-2F01-B0D4A15B7674}"/>
              </a:ext>
            </a:extLst>
          </p:cNvPr>
          <p:cNvSpPr txBox="1"/>
          <p:nvPr/>
        </p:nvSpPr>
        <p:spPr>
          <a:xfrm>
            <a:off x="6153174" y="283131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400" dirty="0"/>
          </a:p>
        </p:txBody>
      </p:sp>
      <p:sp>
        <p:nvSpPr>
          <p:cNvPr id="107" name="Text 14">
            <a:extLst>
              <a:ext uri="{FF2B5EF4-FFF2-40B4-BE49-F238E27FC236}">
                <a16:creationId xmlns:a16="http://schemas.microsoft.com/office/drawing/2014/main" xmlns="" id="{409CDB9F-E083-A4DC-4305-4D2D027E8A2F}"/>
              </a:ext>
            </a:extLst>
          </p:cNvPr>
          <p:cNvSpPr txBox="1"/>
          <p:nvPr/>
        </p:nvSpPr>
        <p:spPr>
          <a:xfrm>
            <a:off x="6171646" y="360593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400" dirty="0"/>
          </a:p>
        </p:txBody>
      </p:sp>
      <p:sp>
        <p:nvSpPr>
          <p:cNvPr id="108" name="Text 14">
            <a:extLst>
              <a:ext uri="{FF2B5EF4-FFF2-40B4-BE49-F238E27FC236}">
                <a16:creationId xmlns:a16="http://schemas.microsoft.com/office/drawing/2014/main" xmlns="" id="{FD04C878-0C2C-6330-C340-DB9750F7AD38}"/>
              </a:ext>
            </a:extLst>
          </p:cNvPr>
          <p:cNvSpPr txBox="1"/>
          <p:nvPr/>
        </p:nvSpPr>
        <p:spPr>
          <a:xfrm>
            <a:off x="6198524" y="4345327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400" dirty="0"/>
          </a:p>
        </p:txBody>
      </p:sp>
      <p:sp>
        <p:nvSpPr>
          <p:cNvPr id="109" name="Shape 58">
            <a:extLst>
              <a:ext uri="{FF2B5EF4-FFF2-40B4-BE49-F238E27FC236}">
                <a16:creationId xmlns:a16="http://schemas.microsoft.com/office/drawing/2014/main" xmlns="" id="{4EEA1093-B0F1-F98F-EB2A-9A0D1B4F8590}"/>
              </a:ext>
            </a:extLst>
          </p:cNvPr>
          <p:cNvSpPr/>
          <p:nvPr/>
        </p:nvSpPr>
        <p:spPr>
          <a:xfrm>
            <a:off x="1827044" y="5056632"/>
            <a:ext cx="2084831" cy="399686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4E1701E-1FDE-616B-47FA-C758F12EA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11" name="Date Placeholder 1">
            <a:extLst>
              <a:ext uri="{FF2B5EF4-FFF2-40B4-BE49-F238E27FC236}">
                <a16:creationId xmlns:a16="http://schemas.microsoft.com/office/drawing/2014/main" xmlns="" id="{39B9B0DE-1BD1-BB96-4D29-545DC6432632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xmlns="" id="{42171223-B13F-1252-2C1E-18FEC51E848E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14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348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"/>
            <a:ext cx="11155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 Hall Ticket Issue Register — End to 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6400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five gates every team passes through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106701"/>
            <a:ext cx="1051560" cy="658091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06701"/>
            <a:ext cx="86868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1106701"/>
            <a:ext cx="7818120" cy="658091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1106701"/>
            <a:ext cx="76352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team produced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418320" y="1106701"/>
            <a:ext cx="1188720" cy="658091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1106701"/>
            <a:ext cx="10058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07040" y="1106701"/>
            <a:ext cx="1143000" cy="658091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0" y="1106701"/>
            <a:ext cx="96012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1856509"/>
            <a:ext cx="105156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856509"/>
            <a:ext cx="86868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00200" y="1856509"/>
            <a:ext cx="781812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91640" y="1856509"/>
            <a:ext cx="76352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 the exam section. Last semester 14 hall tickets were held back, 9 for library dues found on the day. Drew how it works now and how it should work.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18320" y="1856509"/>
            <a:ext cx="118872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1856509"/>
            <a:ext cx="10058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07040" y="1856509"/>
            <a:ext cx="114300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0" y="1856509"/>
            <a:ext cx="96012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2606317"/>
            <a:ext cx="105156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606317"/>
            <a:ext cx="86868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600200" y="2606317"/>
            <a:ext cx="781812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91640" y="2606317"/>
            <a:ext cx="76352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FR-01 to FR-09 written. FR-04: the system lists every failing condition, not just the first. Limit: the reason must appear on screen, not only in the log.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18320" y="2606317"/>
            <a:ext cx="118872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2606317"/>
            <a:ext cx="10058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07040" y="2606317"/>
            <a:ext cx="114300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98480" y="2606317"/>
            <a:ext cx="96012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3356125"/>
            <a:ext cx="105156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356125"/>
            <a:ext cx="86868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S2–S3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600200" y="3356125"/>
            <a:ext cx="781812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91640" y="3356125"/>
            <a:ext cx="76352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 marked out. ER diagram with 6 tables; a rule_value table holds the limit and the date it applies from. Engine 2 returns issue plus reasons.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18320" y="3356125"/>
            <a:ext cx="118872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0" y="3356125"/>
            <a:ext cx="10058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607040" y="3356125"/>
            <a:ext cx="114300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98480" y="3356125"/>
            <a:ext cx="96012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4105933"/>
            <a:ext cx="105156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105933"/>
            <a:ext cx="86868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S4–S5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600200" y="4105933"/>
            <a:ext cx="781812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691640" y="4105933"/>
            <a:ext cx="76352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Engines built and tested. Rule check tested at 74.9 / 75.0 / 75.1. Database CHECK and foreign key added; a direct insert of a blocked student was refused.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418320" y="4105933"/>
            <a:ext cx="118872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509760" y="4105933"/>
            <a:ext cx="10058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607040" y="4105933"/>
            <a:ext cx="1143000" cy="658091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98480" y="4105933"/>
            <a:ext cx="96012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4855741"/>
            <a:ext cx="105156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4855741"/>
            <a:ext cx="86868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S6–S7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600200" y="4855741"/>
            <a:ext cx="781812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691640" y="4855741"/>
            <a:ext cx="76352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cause: a cleared due still blocked issue, because the date was compared as text. Fixed, retested, whole system checked for all three roles.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418320" y="4855741"/>
            <a:ext cx="118872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09760" y="4855741"/>
            <a:ext cx="100584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4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607040" y="4855741"/>
            <a:ext cx="1143000" cy="65809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98480" y="4855741"/>
            <a:ext cx="960120" cy="658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5664662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KPIs measured on this project</a:t>
            </a:r>
            <a:endParaRPr lang="en-US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603042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Reason shown — 100%</a:t>
            </a:r>
            <a:endParaRPr lang="en-US" dirty="0"/>
          </a:p>
        </p:txBody>
      </p:sp>
      <p:sp>
        <p:nvSpPr>
          <p:cNvPr id="54" name="Text 52"/>
          <p:cNvSpPr txBox="1"/>
          <p:nvPr/>
        </p:nvSpPr>
        <p:spPr>
          <a:xfrm>
            <a:off x="4251960" y="603042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Checked twice — 100%</a:t>
            </a:r>
            <a:endParaRPr lang="en-US" dirty="0"/>
          </a:p>
        </p:txBody>
      </p:sp>
      <p:sp>
        <p:nvSpPr>
          <p:cNvPr id="55" name="Text 53"/>
          <p:cNvSpPr txBox="1"/>
          <p:nvPr/>
        </p:nvSpPr>
        <p:spPr>
          <a:xfrm>
            <a:off x="8001000" y="603042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Change without code — Shown</a:t>
            </a:r>
            <a:endParaRPr lang="en-US" dirty="0"/>
          </a:p>
        </p:txBody>
      </p:sp>
      <p:cxnSp>
        <p:nvCxnSpPr>
          <p:cNvPr id="56" name="Google Shape;97;p14">
            <a:extLst>
              <a:ext uri="{FF2B5EF4-FFF2-40B4-BE49-F238E27FC236}">
                <a16:creationId xmlns:a16="http://schemas.microsoft.com/office/drawing/2014/main" xmlns="" id="{299B52FF-0382-7A6C-1C8E-FC3331DB2C8E}"/>
              </a:ext>
            </a:extLst>
          </p:cNvPr>
          <p:cNvCxnSpPr>
            <a:cxnSpLocks/>
          </p:cNvCxnSpPr>
          <p:nvPr/>
        </p:nvCxnSpPr>
        <p:spPr>
          <a:xfrm>
            <a:off x="73891" y="544093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F96AD757-A192-FF05-0444-918B164D6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58" name="Date Placeholder 1">
            <a:extLst>
              <a:ext uri="{FF2B5EF4-FFF2-40B4-BE49-F238E27FC236}">
                <a16:creationId xmlns:a16="http://schemas.microsoft.com/office/drawing/2014/main" xmlns="" id="{27866390-F4A2-5145-C4FD-10FF7F606D26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lide Number Placeholder 10">
            <a:extLst>
              <a:ext uri="{FF2B5EF4-FFF2-40B4-BE49-F238E27FC236}">
                <a16:creationId xmlns:a16="http://schemas.microsoft.com/office/drawing/2014/main" xmlns="" id="{ED553C3E-6C3D-C8B2-2341-2561211CA059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15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75276"/>
            <a:ext cx="11155680" cy="45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2 — Search and Ranking 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84807" y="629010"/>
            <a:ext cx="11365448" cy="532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design a search instead of writing one LIKE query, decide yourself which result comes first, and check whether the search actually finds the right thing.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18945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one of these titles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84807" y="169440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Library Catalogue Ranked Search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84807" y="212417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Placement Eligibility Search and Ranking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484807" y="255394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Second-Hand Book Search and Match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484807" y="298371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Elective Preference Ranking Search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84807" y="341347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Project Guide Matching Search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84807" y="384324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Alumni Directory Lookup System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84807" y="427301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Lost and Found Item Matching System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84807" y="470278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Hostel Room Vacancy Search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84807" y="513255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Scholarship Scheme Finder and Ranking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108367" y="169440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 Internship Opening Search and Ranking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108367" y="212417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 Clinic Appointment Slot Search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108367" y="255394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 Rental Property Search and Ranking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6108367" y="298371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 Second-Hand Vehicle Search and Match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108367" y="341347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 Recipe Search by Available Ingredients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108367" y="384324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 Tourist Place Search and Ranking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108367" y="427301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  Volunteer Skill Matching System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6108367" y="470278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17.  Online Course Search and Ranking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108367" y="513255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  Canteen Menu Filtered Search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4807" y="5662062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847" y="566206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will ask:  "Why does this result come first — did you decide that, or did the database?"</a:t>
            </a:r>
            <a:endParaRPr lang="en-US" dirty="0"/>
          </a:p>
        </p:txBody>
      </p:sp>
      <p:cxnSp>
        <p:nvCxnSpPr>
          <p:cNvPr id="25" name="Google Shape;97;p14">
            <a:extLst>
              <a:ext uri="{FF2B5EF4-FFF2-40B4-BE49-F238E27FC236}">
                <a16:creationId xmlns:a16="http://schemas.microsoft.com/office/drawing/2014/main" xmlns="" id="{FF629F38-D3CB-F363-C10D-F7D4CA81C8F4}"/>
              </a:ext>
            </a:extLst>
          </p:cNvPr>
          <p:cNvCxnSpPr>
            <a:cxnSpLocks/>
          </p:cNvCxnSpPr>
          <p:nvPr/>
        </p:nvCxnSpPr>
        <p:spPr>
          <a:xfrm>
            <a:off x="36945" y="49827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A203BBAE-E97A-E110-FD30-BA9B64DA6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7" name="Date Placeholder 1">
            <a:extLst>
              <a:ext uri="{FF2B5EF4-FFF2-40B4-BE49-F238E27FC236}">
                <a16:creationId xmlns:a16="http://schemas.microsoft.com/office/drawing/2014/main" xmlns="" id="{8238D336-E09D-31A1-7FCB-820E8C00FB79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lide Number Placeholder 10">
            <a:extLst>
              <a:ext uri="{FF2B5EF4-FFF2-40B4-BE49-F238E27FC236}">
                <a16:creationId xmlns:a16="http://schemas.microsoft.com/office/drawing/2014/main" xmlns="" id="{29DAD4C6-61DC-F84C-95E9-D84E7AD0516B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807" y="92228"/>
            <a:ext cx="11155680" cy="549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Library Catalogue Ranked Search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18160" y="641611"/>
            <a:ext cx="11402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2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99871" y="1162819"/>
            <a:ext cx="5607807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1127" y="1238749"/>
            <a:ext cx="5047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1127" y="1574299"/>
            <a:ext cx="540709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search the catalogue by exact title. A small spelling mistake returns nothing, and when many copies match, the order is whatever the database returned — so a reference-only copy often appears above a lendable 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4871" y="1162819"/>
            <a:ext cx="5607807" cy="1417320"/>
          </a:xfrm>
          <a:prstGeom prst="roundRect">
            <a:avLst>
              <a:gd name="adj" fmla="val 3871"/>
            </a:avLst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47" y="1264572"/>
            <a:ext cx="5047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ONE RULE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6127" y="1574299"/>
            <a:ext cx="540709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are ordered by a score the team designs — title match, availability, edition and copy count — and the same search must be shown in two different orders and compared.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9872" y="2763019"/>
            <a:ext cx="1144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engines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99872" y="3220219"/>
            <a:ext cx="2663708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2752" y="3357379"/>
            <a:ext cx="2289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 — Data &amp; Integrity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2752" y="3880826"/>
            <a:ext cx="2289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2752" y="4360945"/>
            <a:ext cx="2289854" cy="146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 for title, author, subject, edition, copy and availability, with keys so a copy cannot point at a missing title.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4512" y="3220219"/>
            <a:ext cx="2663708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17392" y="3357379"/>
            <a:ext cx="2289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— Logic &amp; Rule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17392" y="3791719"/>
            <a:ext cx="2289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 &amp; Programming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17392" y="4360945"/>
            <a:ext cx="2289854" cy="146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a word lookup over title and subject. Calculates the score, sorts the results and breaks ties.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9152" y="3220219"/>
            <a:ext cx="2663708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2032" y="3330058"/>
            <a:ext cx="23578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 — Interface &amp; Access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52032" y="3880826"/>
            <a:ext cx="2289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Technologies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2032" y="4360945"/>
            <a:ext cx="2289854" cy="146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box and result list, with designed screens for "nothing found" and "too many found".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03792" y="3220219"/>
            <a:ext cx="2663708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6672" y="3357379"/>
            <a:ext cx="2289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 — Testing &amp; Validation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86672" y="3890563"/>
            <a:ext cx="2289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86672" y="4360945"/>
            <a:ext cx="2289854" cy="146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fixed list of 20 test searches, the results table, the defect log and the report.</a:t>
            </a:r>
            <a:endParaRPr lang="en-US" sz="1600" dirty="0"/>
          </a:p>
        </p:txBody>
      </p:sp>
      <p:cxnSp>
        <p:nvCxnSpPr>
          <p:cNvPr id="27" name="Google Shape;97;p14">
            <a:extLst>
              <a:ext uri="{FF2B5EF4-FFF2-40B4-BE49-F238E27FC236}">
                <a16:creationId xmlns:a16="http://schemas.microsoft.com/office/drawing/2014/main" xmlns="" id="{63C43A31-2504-F4D5-05BE-A65B07ED1C1A}"/>
              </a:ext>
            </a:extLst>
          </p:cNvPr>
          <p:cNvCxnSpPr>
            <a:cxnSpLocks/>
          </p:cNvCxnSpPr>
          <p:nvPr/>
        </p:nvCxnSpPr>
        <p:spPr>
          <a:xfrm>
            <a:off x="3592" y="574138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1F8C8357-B5E6-C869-192E-95123B681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9" name="Date Placeholder 1">
            <a:extLst>
              <a:ext uri="{FF2B5EF4-FFF2-40B4-BE49-F238E27FC236}">
                <a16:creationId xmlns:a16="http://schemas.microsoft.com/office/drawing/2014/main" xmlns="" id="{12FBACCD-A067-50AA-8A1B-96411B655F39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xmlns="" id="{BA93C98F-2E3D-8FCC-B349-DB079CF61404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17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16624"/>
            <a:ext cx="11155680" cy="432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Library Catalogue Ranked Search — End to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67378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five gates every team passes through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1119632"/>
            <a:ext cx="1051560" cy="479183"/>
          </a:xfrm>
          <a:prstGeom prst="rect">
            <a:avLst/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19632"/>
            <a:ext cx="86868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54480" y="1119632"/>
            <a:ext cx="7818120" cy="479183"/>
          </a:xfrm>
          <a:prstGeom prst="rect">
            <a:avLst/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119632"/>
            <a:ext cx="76352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team produced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72600" y="1119632"/>
            <a:ext cx="1188720" cy="479183"/>
          </a:xfrm>
          <a:prstGeom prst="rect">
            <a:avLst/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64040" y="1119632"/>
            <a:ext cx="10058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61320" y="1119632"/>
            <a:ext cx="1143000" cy="479183"/>
          </a:xfrm>
          <a:prstGeom prst="rect">
            <a:avLst/>
          </a:prstGeom>
          <a:solidFill>
            <a:srgbClr val="E4F2F1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52760" y="1119632"/>
            <a:ext cx="96012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1869440"/>
            <a:ext cx="105156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869440"/>
            <a:ext cx="86868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54480" y="1869440"/>
            <a:ext cx="781812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45920" y="1869440"/>
            <a:ext cx="76352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 the librarian. Of 10 sample searches, 3 returned nothing because of spelling, and copies came back in no particular order.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72600" y="1869440"/>
            <a:ext cx="118872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4040" y="1869440"/>
            <a:ext cx="10058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61320" y="1869440"/>
            <a:ext cx="114300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52760" y="1869440"/>
            <a:ext cx="96012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2619248"/>
            <a:ext cx="105156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619248"/>
            <a:ext cx="86868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554480" y="2619248"/>
            <a:ext cx="781812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0" y="2619248"/>
            <a:ext cx="76352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FR-01 to FR-08 written. FR-05: a search matching nothing shows a suggestion, not a blank page. A fixed list of 20 test searches agreed.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72600" y="2619248"/>
            <a:ext cx="118872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64040" y="2619248"/>
            <a:ext cx="10058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61320" y="2619248"/>
            <a:ext cx="114300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52760" y="2619248"/>
            <a:ext cx="96012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3369056"/>
            <a:ext cx="105156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369056"/>
            <a:ext cx="86868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S2–S3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554480" y="3369056"/>
            <a:ext cx="781812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0" y="3369056"/>
            <a:ext cx="76352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 marked out. Word lookup chosen over scanning every row, with the reason written. Score formula and tie-break rule fixed before coding.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72600" y="3369056"/>
            <a:ext cx="118872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3369056"/>
            <a:ext cx="10058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561320" y="3369056"/>
            <a:ext cx="114300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52760" y="3369056"/>
            <a:ext cx="96012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4118864"/>
            <a:ext cx="105156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4118864"/>
            <a:ext cx="86868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S4–S5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54480" y="4118864"/>
            <a:ext cx="781812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645920" y="4118864"/>
            <a:ext cx="76352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Engines built. The 20 test searches run: the right book was in the top 5 for 17 of them. Same searches shown in two orders and compared.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372600" y="4118864"/>
            <a:ext cx="118872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64040" y="4118864"/>
            <a:ext cx="10058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561320" y="4118864"/>
            <a:ext cx="1143000" cy="479183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52760" y="4118864"/>
            <a:ext cx="96012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2920" y="4868672"/>
            <a:ext cx="105156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868672"/>
            <a:ext cx="86868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S6–S7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554480" y="4868672"/>
            <a:ext cx="781812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645920" y="4868672"/>
            <a:ext cx="76352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cause: capital-letter searches returned nothing, because words were cleaned when stored but not when searched. Fixed, retested, 18 of 20.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372600" y="4868672"/>
            <a:ext cx="118872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464040" y="4868672"/>
            <a:ext cx="100584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4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561320" y="4868672"/>
            <a:ext cx="1143000" cy="4791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52760" y="4868672"/>
            <a:ext cx="960120" cy="47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5554237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KPIs measured on this project</a:t>
            </a:r>
            <a:endParaRPr lang="en-US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589777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Search accuracy — 80% or more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4251960" y="589777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Order decided by you — Shown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8001000" y="589777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Edge screens designed — Shown</a:t>
            </a:r>
            <a:endParaRPr lang="en-US" sz="1600" dirty="0"/>
          </a:p>
        </p:txBody>
      </p:sp>
      <p:cxnSp>
        <p:nvCxnSpPr>
          <p:cNvPr id="56" name="Google Shape;97;p14">
            <a:extLst>
              <a:ext uri="{FF2B5EF4-FFF2-40B4-BE49-F238E27FC236}">
                <a16:creationId xmlns:a16="http://schemas.microsoft.com/office/drawing/2014/main" xmlns="" id="{DAB1B7C9-721E-D77D-B334-F392C93CA4E5}"/>
              </a:ext>
            </a:extLst>
          </p:cNvPr>
          <p:cNvCxnSpPr>
            <a:cxnSpLocks/>
          </p:cNvCxnSpPr>
          <p:nvPr/>
        </p:nvCxnSpPr>
        <p:spPr>
          <a:xfrm>
            <a:off x="73891" y="591537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F73AE8D3-EBA0-E7C6-94FD-13186C93E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58" name="Date Placeholder 1">
            <a:extLst>
              <a:ext uri="{FF2B5EF4-FFF2-40B4-BE49-F238E27FC236}">
                <a16:creationId xmlns:a16="http://schemas.microsoft.com/office/drawing/2014/main" xmlns="" id="{75B732D6-1AB7-9A42-D2BF-1D92E3DE7095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lide Number Placeholder 10">
            <a:extLst>
              <a:ext uri="{FF2B5EF4-FFF2-40B4-BE49-F238E27FC236}">
                <a16:creationId xmlns:a16="http://schemas.microsoft.com/office/drawing/2014/main" xmlns="" id="{DDE1E7EF-9C12-3AD3-BBBF-3BCE36E180C4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18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807" y="112815"/>
            <a:ext cx="11155680" cy="322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3 — Ledger and Money Systems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0911" y="711622"/>
            <a:ext cx="115355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a balance must be calculated from history and never stored and edited, that a correction is a new entry and never a deletion, and that every change must show who made it and when.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6515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one of these titles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235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Lab Equipment Issue and Return Ledger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5212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Stock Ledger with Live Balance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8189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Expiry-Aware Consumable Stock Ledger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1166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Library Book Circulation Ledger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4143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Sports Equipment Custody Ledger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97119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IT Asset Allocation Ledger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40096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Hostel Inventory and Custody Ledger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83073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Blood Bank Unit Ledger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26050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Canteen Raw Material Stock Ledger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82235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 Department Expense Ledger with Undo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5212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 Exact-Amount Wallet Ledger  (money)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68189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 Fee Ledger with Bank Matching  (money)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11166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 Instalment Schedule Generator  (money)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54143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 Safe-Retry Payment Ledger  (money)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97119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 Invoice Ledger with Tax Split  (money)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40096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  Hostel Mess Bill Ledger  (money)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83073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17.  Self-Help Group Contribution Ledger  (money)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526050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  Event Budget and Settlement Ledger  (money)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4807" y="5748708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847" y="57487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will ask:  "Where did this balance come from, and can you prove it?"</a:t>
            </a:r>
            <a:endParaRPr lang="en-US" dirty="0"/>
          </a:p>
        </p:txBody>
      </p:sp>
      <p:cxnSp>
        <p:nvCxnSpPr>
          <p:cNvPr id="25" name="Google Shape;97;p14">
            <a:extLst>
              <a:ext uri="{FF2B5EF4-FFF2-40B4-BE49-F238E27FC236}">
                <a16:creationId xmlns:a16="http://schemas.microsoft.com/office/drawing/2014/main" xmlns="" id="{215B0C19-7F80-92DF-7490-C5EF1403E8AD}"/>
              </a:ext>
            </a:extLst>
          </p:cNvPr>
          <p:cNvCxnSpPr>
            <a:cxnSpLocks/>
          </p:cNvCxnSpPr>
          <p:nvPr/>
        </p:nvCxnSpPr>
        <p:spPr>
          <a:xfrm>
            <a:off x="73891" y="526200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365C3283-E317-758A-D0C4-D0E6FC102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7" name="Date Placeholder 1">
            <a:extLst>
              <a:ext uri="{FF2B5EF4-FFF2-40B4-BE49-F238E27FC236}">
                <a16:creationId xmlns:a16="http://schemas.microsoft.com/office/drawing/2014/main" xmlns="" id="{78E2C423-D2C6-58CE-6AAA-46A28DA08234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lide Number Placeholder 10">
            <a:extLst>
              <a:ext uri="{FF2B5EF4-FFF2-40B4-BE49-F238E27FC236}">
                <a16:creationId xmlns:a16="http://schemas.microsoft.com/office/drawing/2014/main" xmlns="" id="{C1956DAE-DB81-DC61-D488-56E32E913D15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19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1096"/>
            <a:ext cx="11155680" cy="465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Lab Equipment Issue and Return Ledger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375" y="671335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3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39087" y="1192543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407" y="1283983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967" y="1604023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Components are issued to students against a paper register. At the end of the year nobody can say who holds what, and the physical count never matches the register.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54087" y="1192543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407" y="1283983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ONE RULE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28407" y="1604023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Stock can never go below zero. Issue, return and receipt are all entries. The balance is receipts minus issues plus returns, calculated when it is shown — it is never stored as a number.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9087" y="2792743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engines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9087" y="3249943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967" y="3387103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 — Data &amp; Integrity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967" y="394313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967" y="4484383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Item, entry, user and audit tables. Foreign keys, a check that stops a negative issue, and entries that succeed or fail together.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73727" y="3249943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6607" y="3387103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— Logic &amp; Rule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56607" y="394313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 &amp; Programming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56607" y="4484383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Calculates the balance from history. A queue gives oldest-first use and the list of what each student still holds.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08367" y="3249943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247" y="3387103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 — Interface &amp; Access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91247" y="394313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Technologies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91247" y="4484383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Issue, return and audit screens by role. The server checks again on every entry, so two requests cannot both take the last item.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43007" y="3249943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25887" y="3387103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 — Testing &amp; Validation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25887" y="3943133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25887" y="4484383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for negative stock, double issue and undo. Defect log, root cause notes and the report.</a:t>
            </a:r>
            <a:endParaRPr lang="en-US" sz="1600" dirty="0"/>
          </a:p>
        </p:txBody>
      </p:sp>
      <p:cxnSp>
        <p:nvCxnSpPr>
          <p:cNvPr id="27" name="Google Shape;97;p14">
            <a:extLst>
              <a:ext uri="{FF2B5EF4-FFF2-40B4-BE49-F238E27FC236}">
                <a16:creationId xmlns:a16="http://schemas.microsoft.com/office/drawing/2014/main" xmlns="" id="{D4AAEFD7-A7FC-45FB-60DA-958695F39AEC}"/>
              </a:ext>
            </a:extLst>
          </p:cNvPr>
          <p:cNvCxnSpPr>
            <a:cxnSpLocks/>
          </p:cNvCxnSpPr>
          <p:nvPr/>
        </p:nvCxnSpPr>
        <p:spPr>
          <a:xfrm>
            <a:off x="73891" y="566952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9F71FC4D-2045-6C13-7328-B49A09155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9" name="Date Placeholder 1">
            <a:extLst>
              <a:ext uri="{FF2B5EF4-FFF2-40B4-BE49-F238E27FC236}">
                <a16:creationId xmlns:a16="http://schemas.microsoft.com/office/drawing/2014/main" xmlns="" id="{4A14D8EA-A800-88FF-A0DF-6C6E93FC10AE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xmlns="" id="{C75771CF-0FAE-20DA-F1D4-9A9B1BD2C7F0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20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— Lab Equipment Issue and Return Ledger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786384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3 · Ledger and Money Systems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01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184708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28016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2801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Staff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84708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28016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2801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 of Dept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06640" y="184708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194560"/>
            <a:ext cx="8412480" cy="1051560"/>
          </a:xfrm>
          <a:prstGeom prst="roundRect">
            <a:avLst>
              <a:gd name="adj" fmla="val 4348"/>
            </a:avLst>
          </a:prstGeom>
          <a:solidFill>
            <a:srgbClr val="EAF3ED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286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 — Interface &amp; Access   (Web Technologies)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606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· Return · Audit screens by role  ·  the server re-checks every entry, so two requests cannot both take the last item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326440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42900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request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6217920" y="326440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355080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 + refusal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8412480" cy="1051560"/>
          </a:xfrm>
          <a:prstGeom prst="roundRect">
            <a:avLst>
              <a:gd name="adj" fmla="val 4348"/>
            </a:avLst>
          </a:prstGeom>
          <a:solidFill>
            <a:srgbClr val="E4F2F1"/>
          </a:solidFill>
          <a:ln w="12700">
            <a:solidFill>
              <a:srgbClr val="176E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— Logic &amp; Rule   (Data Structures &amp; Programming)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023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 = receipts − issues + returns, calculated on demand  ·  queue gives oldest-first use and each student’s custody list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468172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429000" y="4681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entry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6217920" y="4681728"/>
            <a:ext cx="91" cy="3291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35508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entry history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8412480" cy="1371600"/>
          </a:xfrm>
          <a:prstGeom prst="roundRect">
            <a:avLst>
              <a:gd name="adj" fmla="val 3333"/>
            </a:avLst>
          </a:prstGeom>
          <a:solidFill>
            <a:srgbClr val="EAF1F8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120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 — Data &amp; Integrity   (Database Management Systems)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440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Tables:  item  ·  entry (issue / return / receipt)  ·  user  ·  audit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760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i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stops a negative issue  ·  the two steps succeed or fail together  ·  balance is NEVER stored as a column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9235440" y="2194560"/>
            <a:ext cx="2606040" cy="4206240"/>
          </a:xfrm>
          <a:prstGeom prst="roundRect">
            <a:avLst>
              <a:gd name="adj" fmla="val 1754"/>
            </a:avLst>
          </a:prstGeom>
          <a:solidFill>
            <a:srgbClr val="F1EBF5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26880" y="2331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Validation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2880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(Software Engineering)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32918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stock test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Double issue test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Undo test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log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 notes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report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flipH="1">
            <a:off x="8997696" y="2743200"/>
            <a:ext cx="201168" cy="91"/>
          </a:xfrm>
          <a:prstGeom prst="line">
            <a:avLst/>
          </a:prstGeom>
          <a:noFill/>
          <a:ln w="19050">
            <a:solidFill>
              <a:srgbClr val="6B4A7A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8997696" y="4114800"/>
            <a:ext cx="201168" cy="91"/>
          </a:xfrm>
          <a:prstGeom prst="line">
            <a:avLst/>
          </a:prstGeom>
          <a:noFill/>
          <a:ln w="19050">
            <a:solidFill>
              <a:srgbClr val="6B4A7A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8997696" y="5669280"/>
            <a:ext cx="201168" cy="91"/>
          </a:xfrm>
          <a:prstGeom prst="line">
            <a:avLst/>
          </a:prstGeom>
          <a:noFill/>
          <a:ln w="19050">
            <a:solidFill>
              <a:srgbClr val="6B4A7A"/>
            </a:solidFill>
            <a:prstDash val="dash"/>
            <a:tailEnd type="triangle"/>
          </a:ln>
        </p:spPr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xmlns="" id="{C167B7C6-DC07-49B7-43C0-C31248E7C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40" name="Date Placeholder 1">
            <a:extLst>
              <a:ext uri="{FF2B5EF4-FFF2-40B4-BE49-F238E27FC236}">
                <a16:creationId xmlns:a16="http://schemas.microsoft.com/office/drawing/2014/main" xmlns="" id="{82F98A11-245C-1987-5386-26F6036853BE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lide Number Placeholder 10">
            <a:extLst>
              <a:ext uri="{FF2B5EF4-FFF2-40B4-BE49-F238E27FC236}">
                <a16:creationId xmlns:a16="http://schemas.microsoft.com/office/drawing/2014/main" xmlns="" id="{CB0A2D1B-39E4-C2FE-9DB5-D5B1924607AD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21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Flow Diagram (Level 1) — Lab Equipment Issue and Return Ledger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786384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3 · external entities, processes and data stores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173736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3192" y="160020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Staff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017520"/>
            <a:ext cx="173736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" y="30175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4828032"/>
            <a:ext cx="173736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" y="4828032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 of Dept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97480" y="1463040"/>
            <a:ext cx="1645920" cy="1645920"/>
          </a:xfrm>
          <a:prstGeom prst="ellipse">
            <a:avLst/>
          </a:prstGeom>
          <a:solidFill>
            <a:srgbClr val="E4F2F1"/>
          </a:solidFill>
          <a:ln w="16510">
            <a:solidFill>
              <a:srgbClr val="176E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609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1883664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4920" y="1463040"/>
            <a:ext cx="1645920" cy="1645920"/>
          </a:xfrm>
          <a:prstGeom prst="ellipse">
            <a:avLst/>
          </a:prstGeom>
          <a:solidFill>
            <a:srgbClr val="EAF3ED"/>
          </a:solidFill>
          <a:ln w="16510">
            <a:solidFill>
              <a:srgbClr val="2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609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48072" y="1883664"/>
            <a:ext cx="1499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4960" y="4343400"/>
            <a:ext cx="1554480" cy="1554480"/>
          </a:xfrm>
          <a:prstGeom prst="ellipse">
            <a:avLst/>
          </a:prstGeom>
          <a:solidFill>
            <a:srgbClr val="EAF1F8"/>
          </a:solidFill>
          <a:ln w="16510">
            <a:solidFill>
              <a:srgbClr val="2E5C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4489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4764024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97480" y="4343400"/>
            <a:ext cx="1554480" cy="1554480"/>
          </a:xfrm>
          <a:prstGeom prst="ellipse">
            <a:avLst/>
          </a:prstGeom>
          <a:solidFill>
            <a:srgbClr val="F1EBF5"/>
          </a:solidFill>
          <a:ln w="16510">
            <a:solidFill>
              <a:srgbClr val="6B4A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4489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770632" y="4764024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83880" y="1371600"/>
            <a:ext cx="3611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371600"/>
            <a:ext cx="548640" cy="566928"/>
          </a:xfrm>
          <a:prstGeom prst="rect">
            <a:avLst/>
          </a:prstGeom>
          <a:solidFill>
            <a:srgbClr val="EAF1F8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13716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1371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 master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83880" y="2395728"/>
            <a:ext cx="3611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2395728"/>
            <a:ext cx="548640" cy="566928"/>
          </a:xfrm>
          <a:prstGeom prst="rect">
            <a:avLst/>
          </a:prstGeom>
          <a:solidFill>
            <a:srgbClr val="EAF1F8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23957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23957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Entry ledger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83880" y="3419856"/>
            <a:ext cx="3611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419856"/>
            <a:ext cx="548640" cy="566928"/>
          </a:xfrm>
          <a:prstGeom prst="rect">
            <a:avLst/>
          </a:prstGeom>
          <a:solidFill>
            <a:srgbClr val="EAF1F8"/>
          </a:solidFill>
          <a:ln w="12700">
            <a:solidFill>
              <a:srgbClr val="B9C9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34198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D3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34198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75688" y="1874520"/>
            <a:ext cx="594360" cy="24688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1901952" y="1325187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request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flipV="1">
            <a:off x="2075688" y="2788920"/>
            <a:ext cx="740664" cy="42976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1417320" y="2677807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 request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70832" y="2286000"/>
            <a:ext cx="658368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425696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 flipV="1">
            <a:off x="6675120" y="1645920"/>
            <a:ext cx="1463040" cy="34747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48272" y="2395728"/>
            <a:ext cx="1389888" cy="25603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83680" y="2761488"/>
            <a:ext cx="1554480" cy="896112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903720" y="1536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entry record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29260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record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 flipH="1">
            <a:off x="7004304" y="2788920"/>
            <a:ext cx="1179576" cy="170992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944868" y="35112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4160520" y="2834640"/>
            <a:ext cx="1600200" cy="1481328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206240" y="3474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balance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 flipH="1">
            <a:off x="4315968" y="3712464"/>
            <a:ext cx="3867912" cy="1243584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6661543" y="41330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entries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 flipH="1">
            <a:off x="4297680" y="5120640"/>
            <a:ext cx="1051560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4343400" y="4828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 flipH="1">
            <a:off x="2103120" y="5120640"/>
            <a:ext cx="548640" cy="91"/>
          </a:xfrm>
          <a:prstGeom prst="line">
            <a:avLst/>
          </a:prstGeom>
          <a:noFill/>
          <a:ln w="19050">
            <a:solidFill>
              <a:srgbClr val="7C8CA0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1755648" y="44988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report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0040" y="6053328"/>
            <a:ext cx="11521440" cy="658368"/>
          </a:xfrm>
          <a:prstGeom prst="roundRect">
            <a:avLst>
              <a:gd name="adj" fmla="val 6944"/>
            </a:avLst>
          </a:prstGeom>
          <a:solidFill>
            <a:srgbClr val="FBF2DE"/>
          </a:solidFill>
          <a:ln w="12700">
            <a:solidFill>
              <a:srgbClr val="E8D7A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50520" y="6053328"/>
            <a:ext cx="1149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 there is no "balance" data store. P3 calculates the balance from D2 every time it is asked — that is the whole point of this theme.</a:t>
            </a:r>
            <a:endParaRPr lang="en-US" sz="16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E98D065C-823A-ED21-198D-CFA63CF2C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Equipment Issue and Return Ledger — End to 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five gates every team passes through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" y="1115568"/>
            <a:ext cx="1051560" cy="749808"/>
          </a:xfrm>
          <a:prstGeom prst="rect">
            <a:avLst/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1115568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536192" y="1115568"/>
            <a:ext cx="7818120" cy="749808"/>
          </a:xfrm>
          <a:prstGeom prst="rect">
            <a:avLst/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27632" y="1115568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team produced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354312" y="1115568"/>
            <a:ext cx="1188720" cy="749808"/>
          </a:xfrm>
          <a:prstGeom prst="rect">
            <a:avLst/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45752" y="111556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543032" y="1115568"/>
            <a:ext cx="1143000" cy="749808"/>
          </a:xfrm>
          <a:prstGeom prst="rect">
            <a:avLst/>
          </a:prstGeom>
          <a:solidFill>
            <a:srgbClr val="EAF3ED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4472" y="11155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4632" y="1865376"/>
            <a:ext cx="1051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1865376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S0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536192" y="1865376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27632" y="1865376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 the lab instructor. Last year 23 components were unaccounted for and no record showed who held them. Drew how it works now and how it should work.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54312" y="1865376"/>
            <a:ext cx="1188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45752" y="186537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543032" y="1865376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4472" y="186537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4632" y="2615184"/>
            <a:ext cx="105156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" y="2615184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536192" y="2615184"/>
            <a:ext cx="78181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27632" y="2615184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FR-01 to FR-10 written. FR-06: the system refuses an issue that would take stock below zero. Limit: every entry must appear in the audit view.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354312" y="2615184"/>
            <a:ext cx="11887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45752" y="261518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0543032" y="2615184"/>
            <a:ext cx="114300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4472" y="261518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84632" y="3364992"/>
            <a:ext cx="1051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" y="3364992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S2–S3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536192" y="3364992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27632" y="3364992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 marked out. Decision recorded that the balance is calculated, with the query written out. Which steps must succeed together was defined.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354312" y="3364992"/>
            <a:ext cx="1188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45752" y="336499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2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543032" y="3364992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4472" y="336499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84632" y="4114800"/>
            <a:ext cx="105156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" y="411480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S4–S5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536192" y="4114800"/>
            <a:ext cx="78181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627632" y="4114800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Engines built. A half-finished entry was undone, leaving nothing behind. Two tabs issuing the last three units — the second was refused by the database.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9354312" y="4114800"/>
            <a:ext cx="11887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45752" y="41148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3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0543032" y="4114800"/>
            <a:ext cx="114300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34472" y="411480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84632" y="4864608"/>
            <a:ext cx="1051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6072" y="4864608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S6–S7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536192" y="4864608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627632" y="4864608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cause: a return entered before its issue gave a negative count, because entries were ordered by typing time, not event time. Fixed and retested.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9354312" y="4864608"/>
            <a:ext cx="1188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445752" y="486460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4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0543032" y="4864608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34472" y="486460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56856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KPIs measured on this project</a:t>
            </a:r>
            <a:endParaRPr lang="en-US" dirty="0"/>
          </a:p>
        </p:txBody>
      </p:sp>
      <p:sp>
        <p:nvSpPr>
          <p:cNvPr id="53" name="Text 51"/>
          <p:cNvSpPr txBox="1"/>
          <p:nvPr/>
        </p:nvSpPr>
        <p:spPr>
          <a:xfrm>
            <a:off x="438912" y="601739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Balance calculated, not stored — Shown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4187952" y="601739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Two people at once — Shown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7936992" y="601739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Full audit — 100%</a:t>
            </a:r>
            <a:endParaRPr lang="en-US" sz="1600" dirty="0"/>
          </a:p>
        </p:txBody>
      </p:sp>
      <p:cxnSp>
        <p:nvCxnSpPr>
          <p:cNvPr id="56" name="Google Shape;97;p14">
            <a:extLst>
              <a:ext uri="{FF2B5EF4-FFF2-40B4-BE49-F238E27FC236}">
                <a16:creationId xmlns:a16="http://schemas.microsoft.com/office/drawing/2014/main" xmlns="" id="{4A2F549C-3B39-2013-9017-BD40DE2A75EE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7BAB8AC3-428A-C339-4995-754E6DCBD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58" name="Date Placeholder 1">
            <a:extLst>
              <a:ext uri="{FF2B5EF4-FFF2-40B4-BE49-F238E27FC236}">
                <a16:creationId xmlns:a16="http://schemas.microsoft.com/office/drawing/2014/main" xmlns="" id="{E7B1B11B-6C0B-E89E-310A-D46EC125D192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lide Number Placeholder 10">
            <a:extLst>
              <a:ext uri="{FF2B5EF4-FFF2-40B4-BE49-F238E27FC236}">
                <a16:creationId xmlns:a16="http://schemas.microsoft.com/office/drawing/2014/main" xmlns="" id="{DCBA71CD-A064-DD05-1AA9-EC4EDB1A80E1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23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569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4 — Reporting and MIS System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13357" y="718080"/>
            <a:ext cx="11155680" cy="487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a report is a </a:t>
            </a:r>
            <a:r>
              <a:rPr lang="en-US" sz="20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</a:t>
            </a: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not a stored table, that every number must be checkable a second way, and that deciding who is counted is the real work.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431313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one of these titles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88851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Attendance Shortage Report System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231828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Semester Result Analysis Report System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274804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Course Feedback Summary Report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317781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Placement Metrics Report System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360758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Fee Collection and Arrears Ageing Report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403735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Library Circulation Analysis Report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21208" y="446712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Admission Funnel Analysis Report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521208" y="489688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Faculty Workload Distribution Report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521208" y="532665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Hostel Occupancy and Vacancy Report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188851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 Lab Utilisation Report System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231828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 Sports Participation Analysis Report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274804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 Student Grievance Trend Report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317781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 Transport Route Utilisation Report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3607585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 Canteen Sales and Wastage Report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4037353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 Utility Consumption Report System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6144768" y="4467121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  Alumni Outcome Report System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6144768" y="4896889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17.  Research Publication Metrics Report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5326657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  Accreditation Data Consolidation Report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8160" y="579568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8200" y="5795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will ask:  "What is the denominator of that number, and who did you leave out?"</a:t>
            </a:r>
            <a:endParaRPr lang="en-US" sz="2000" dirty="0"/>
          </a:p>
        </p:txBody>
      </p:sp>
      <p:cxnSp>
        <p:nvCxnSpPr>
          <p:cNvPr id="25" name="Google Shape;97;p14">
            <a:extLst>
              <a:ext uri="{FF2B5EF4-FFF2-40B4-BE49-F238E27FC236}">
                <a16:creationId xmlns:a16="http://schemas.microsoft.com/office/drawing/2014/main" xmlns="" id="{2D534073-10F9-B10C-2052-45BA31436E84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xmlns="" id="{4E0A3D2F-9947-C5F2-65DD-78125D78E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7" name="Date Placeholder 1">
            <a:extLst>
              <a:ext uri="{FF2B5EF4-FFF2-40B4-BE49-F238E27FC236}">
                <a16:creationId xmlns:a16="http://schemas.microsoft.com/office/drawing/2014/main" xmlns="" id="{ECB0BF36-E308-3414-6F39-81CFCF627DE9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lide Number Placeholder 10">
            <a:extLst>
              <a:ext uri="{FF2B5EF4-FFF2-40B4-BE49-F238E27FC236}">
                <a16:creationId xmlns:a16="http://schemas.microsoft.com/office/drawing/2014/main" xmlns="" id="{56886112-F5A7-7244-A18F-7C800F5782C8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24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807" y="121074"/>
            <a:ext cx="8982466" cy="37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Attendance Shortage Report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9511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58118" y="1127911"/>
            <a:ext cx="5631202" cy="1770762"/>
          </a:xfrm>
          <a:prstGeom prst="roundRect">
            <a:avLst>
              <a:gd name="adj" fmla="val 3871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918" y="1219351"/>
            <a:ext cx="5068082" cy="34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860" y="1539391"/>
            <a:ext cx="5325467" cy="1199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Shortage lists come out late, are disputed by students, and are calculated differently by different staff. Three people produce three percentages from the same register.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73118" y="1127911"/>
            <a:ext cx="5869500" cy="1770762"/>
          </a:xfrm>
          <a:prstGeom prst="roundRect">
            <a:avLst>
              <a:gd name="adj" fmla="val 3871"/>
            </a:avLst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1918" y="1219351"/>
            <a:ext cx="5068082" cy="34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ONE RULE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163127" y="1539391"/>
            <a:ext cx="5680373" cy="1199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Attendance is classes attended over classes conducted — but cancelled classes, extra classes, students who joined late, and subject-wise versus overall attendance each give a different answer. The team must define the calculation, write down what it leaves out, and defend it.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994946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engines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57600"/>
            <a:ext cx="2240280" cy="52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1 — Data &amp; Integrity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494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54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the register, records what arrived — row count, columns, bad rows — and stores the cleaned data with keys and constraints.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7560" y="352044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3657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2 — Logic &amp; Rule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139221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Structures &amp; Programming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754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Calculates each report as a query, never a stored table. Recalculates every main number a second way and compares.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352044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631507"/>
            <a:ext cx="2240280" cy="52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3 — Interface &amp; Access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21647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Technologies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754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Subject-wise and overall views by role, with every number on screen linked to the query behind it.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06840" y="352044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9720" y="3620271"/>
            <a:ext cx="2240280" cy="52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4 — Testing &amp; Validation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42494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4754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with an empty file, a single row and a blank column. Defect log, root cause notes and the report.</a:t>
            </a:r>
            <a:endParaRPr lang="en-US" sz="1600" dirty="0"/>
          </a:p>
        </p:txBody>
      </p:sp>
      <p:cxnSp>
        <p:nvCxnSpPr>
          <p:cNvPr id="27" name="Google Shape;97;p14">
            <a:extLst>
              <a:ext uri="{FF2B5EF4-FFF2-40B4-BE49-F238E27FC236}">
                <a16:creationId xmlns:a16="http://schemas.microsoft.com/office/drawing/2014/main" xmlns="" id="{DC787B65-FA85-B673-039D-95D68B830175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A3D43CB5-5576-6DDB-D284-6A202DAE8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29" name="Date Placeholder 1">
            <a:extLst>
              <a:ext uri="{FF2B5EF4-FFF2-40B4-BE49-F238E27FC236}">
                <a16:creationId xmlns:a16="http://schemas.microsoft.com/office/drawing/2014/main" xmlns="" id="{FF34EBCB-CC47-59E6-2CBD-51E7DE2B7D98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xmlns="" id="{4CC93127-11CF-8D6E-BE57-B6B67C651254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25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2098"/>
            <a:ext cx="8049953" cy="34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Attendance Shortage Report System — End to End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1298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five gates every team passes through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1110752"/>
            <a:ext cx="1051560" cy="749808"/>
          </a:xfrm>
          <a:prstGeom prst="rect">
            <a:avLst/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10752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554480" y="1110752"/>
            <a:ext cx="7818120" cy="749808"/>
          </a:xfrm>
          <a:prstGeom prst="rect">
            <a:avLst/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110752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team produced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372600" y="1110752"/>
            <a:ext cx="1188720" cy="749808"/>
          </a:xfrm>
          <a:prstGeom prst="rect">
            <a:avLst/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64040" y="111075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561320" y="1110752"/>
            <a:ext cx="1143000" cy="749808"/>
          </a:xfrm>
          <a:prstGeom prst="rect">
            <a:avLst/>
          </a:prstGeom>
          <a:solidFill>
            <a:srgbClr val="F1EBF5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52760" y="111075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2920" y="1860560"/>
            <a:ext cx="1051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86056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S0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554480" y="1860560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45920" y="1860560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 the class coordinator. Three different shortage percentages were in use for the same division, and each was defensible. Drew how it works now and how it should work.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72600" y="1860560"/>
            <a:ext cx="1188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4040" y="18605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561320" y="186056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52760" y="186056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2920" y="2610368"/>
            <a:ext cx="105156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610368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554480" y="2610368"/>
            <a:ext cx="78181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0" y="2610368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FR-01 to FR-08 written. FR-03: a subject with no classes conducted shows "not applicable", never 0%. Limit: every number must name the query behind it.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372600" y="2610368"/>
            <a:ext cx="11887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64040" y="261036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0561320" y="2610368"/>
            <a:ext cx="114300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52760" y="261036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2920" y="3360176"/>
            <a:ext cx="1051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360176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S2–S3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554480" y="3360176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0" y="3360176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engines marked out. Wrote down who is counted in each number and who is left out. Designed the query for each report and what one output row means.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372600" y="3360176"/>
            <a:ext cx="1188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336017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2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561320" y="3360176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52760" y="336017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2920" y="4109984"/>
            <a:ext cx="105156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4109984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S4–S5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554480" y="4109984"/>
            <a:ext cx="78181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645920" y="4109984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Engines built. Tested with cancelled classes, a late joiner and a subject with no classes. Every main number recalculated a second way and shown to match.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9372600" y="4109984"/>
            <a:ext cx="118872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64040" y="410998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3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0561320" y="4109984"/>
            <a:ext cx="1143000" cy="749808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52760" y="4109984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02920" y="4859792"/>
            <a:ext cx="1051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859792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S6–S7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554480" y="4859792"/>
            <a:ext cx="7818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645920" y="4859792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cause: the division average did not match the average of subject averages, because they add up in different orders. Both defined and labelled.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9372600" y="4859792"/>
            <a:ext cx="1188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464040" y="485979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4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0561320" y="4859792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52760" y="485979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dirty="0"/>
          </a:p>
        </p:txBody>
      </p:sp>
      <p:sp>
        <p:nvSpPr>
          <p:cNvPr id="52" name="Text 50"/>
          <p:cNvSpPr txBox="1"/>
          <p:nvPr/>
        </p:nvSpPr>
        <p:spPr>
          <a:xfrm>
            <a:off x="521208" y="5690704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KPIs measured on this project</a:t>
            </a:r>
            <a:endParaRPr lang="en-US" dirty="0"/>
          </a:p>
        </p:txBody>
      </p:sp>
      <p:sp>
        <p:nvSpPr>
          <p:cNvPr id="53" name="Text 51"/>
          <p:cNvSpPr txBox="1"/>
          <p:nvPr/>
        </p:nvSpPr>
        <p:spPr>
          <a:xfrm>
            <a:off x="521208" y="6056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Checked a second way — 100%</a:t>
            </a:r>
            <a:endParaRPr lang="en-US" dirty="0"/>
          </a:p>
        </p:txBody>
      </p:sp>
      <p:sp>
        <p:nvSpPr>
          <p:cNvPr id="54" name="Text 52"/>
          <p:cNvSpPr txBox="1"/>
          <p:nvPr/>
        </p:nvSpPr>
        <p:spPr>
          <a:xfrm>
            <a:off x="4270248" y="6056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Cleaning recorded — 100%</a:t>
            </a:r>
            <a:endParaRPr lang="en-US" dirty="0"/>
          </a:p>
        </p:txBody>
      </p:sp>
      <p:sp>
        <p:nvSpPr>
          <p:cNvPr id="55" name="Text 53"/>
          <p:cNvSpPr txBox="1"/>
          <p:nvPr/>
        </p:nvSpPr>
        <p:spPr>
          <a:xfrm>
            <a:off x="8019288" y="6056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Who is counted — 100%</a:t>
            </a:r>
            <a:endParaRPr lang="en-US" dirty="0"/>
          </a:p>
        </p:txBody>
      </p:sp>
      <p:cxnSp>
        <p:nvCxnSpPr>
          <p:cNvPr id="56" name="Google Shape;97;p14">
            <a:extLst>
              <a:ext uri="{FF2B5EF4-FFF2-40B4-BE49-F238E27FC236}">
                <a16:creationId xmlns:a16="http://schemas.microsoft.com/office/drawing/2014/main" xmlns="" id="{99A821EE-CE64-CFE7-6BB3-842BF854DEAA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xmlns="" id="{5F52EB11-3DCB-DAD1-EF23-87B78FCD7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58" name="Date Placeholder 1">
            <a:extLst>
              <a:ext uri="{FF2B5EF4-FFF2-40B4-BE49-F238E27FC236}">
                <a16:creationId xmlns:a16="http://schemas.microsoft.com/office/drawing/2014/main" xmlns="" id="{6ED10AB8-A96D-BB30-201C-DFD40E76A39F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lide Number Placeholder 10">
            <a:extLst>
              <a:ext uri="{FF2B5EF4-FFF2-40B4-BE49-F238E27FC236}">
                <a16:creationId xmlns:a16="http://schemas.microsoft.com/office/drawing/2014/main" xmlns="" id="{BCBD169B-5406-23A0-5EA5-AB6940CF45E3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75278"/>
            <a:ext cx="11155680" cy="40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Gate Assessment Sheet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84807" y="626736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fill your columns before the review. Your mentor fills theirs during it.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1034878"/>
            <a:ext cx="2743200" cy="667512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34878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46120" y="1034878"/>
            <a:ext cx="1737360" cy="667512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034878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fills it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83480" y="1034878"/>
            <a:ext cx="2194560" cy="667512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034878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178040" y="1034878"/>
            <a:ext cx="4526280" cy="667512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034878"/>
            <a:ext cx="4343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goes in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2920" y="1702390"/>
            <a:ext cx="2743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702390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must bring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46120" y="1702390"/>
            <a:ext cx="1737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702390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Printed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83480" y="1702390"/>
            <a:ext cx="21945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170239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178040" y="1702390"/>
            <a:ext cx="45262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702390"/>
            <a:ext cx="4343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fixed list for that gate, plus your theme rows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2920" y="2369902"/>
            <a:ext cx="274320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369902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46120" y="2369902"/>
            <a:ext cx="173736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37560" y="2369902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Printed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983480" y="2369902"/>
            <a:ext cx="219456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2369902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178040" y="2369902"/>
            <a:ext cx="452628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2369902"/>
            <a:ext cx="4343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course outcome that row proves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2920" y="3037414"/>
            <a:ext cx="2743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037414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 Y / P / N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46120" y="3037414"/>
            <a:ext cx="1737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37560" y="3037414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983480" y="3037414"/>
            <a:ext cx="21945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3037414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the review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178040" y="3037414"/>
            <a:ext cx="45262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69480" y="3037414"/>
            <a:ext cx="4343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 done, P = partly, N = not done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2920" y="3704926"/>
            <a:ext cx="274320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4360" y="370492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it is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46120" y="3704926"/>
            <a:ext cx="173736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37560" y="3704926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983480" y="3704926"/>
            <a:ext cx="219456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74920" y="3704926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the review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178040" y="3704926"/>
            <a:ext cx="452628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69480" y="3704926"/>
            <a:ext cx="4343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name, page, diagram name or test case number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02920" y="4372438"/>
            <a:ext cx="27432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372438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  Y / P / N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246120" y="4372438"/>
            <a:ext cx="17373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337560" y="4372438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983480" y="4372438"/>
            <a:ext cx="21945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74920" y="4372438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the review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7178040" y="4372438"/>
            <a:ext cx="45262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269480" y="4372438"/>
            <a:ext cx="4343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actually SEEN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02920" y="5039950"/>
            <a:ext cx="274320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4360" y="5039950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</a:t>
            </a: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246120" y="5039950"/>
            <a:ext cx="173736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337560" y="5039950"/>
            <a:ext cx="1554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</a:t>
            </a: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983480" y="5039950"/>
            <a:ext cx="219456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74920" y="503995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the review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7178040" y="5039950"/>
            <a:ext cx="4526280" cy="667512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269480" y="5039950"/>
            <a:ext cx="4343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the maximum printed on that row</a:t>
            </a: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418176" y="5789542"/>
            <a:ext cx="11355648" cy="585432"/>
          </a:xfrm>
          <a:prstGeom prst="roundRect">
            <a:avLst>
              <a:gd name="adj" fmla="val 7059"/>
            </a:avLst>
          </a:prstGeom>
          <a:solidFill>
            <a:srgbClr val="FBF2DE"/>
          </a:solidFill>
          <a:ln w="12700">
            <a:solidFill>
              <a:srgbClr val="E8D7A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18176" y="5789542"/>
            <a:ext cx="11286144" cy="585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7A5F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your column and your mentor’s disagree, that is the most useful line on the page. It is discussed before the gate is decided.</a:t>
            </a:r>
            <a:endParaRPr lang="en-US" dirty="0"/>
          </a:p>
        </p:txBody>
      </p:sp>
      <p:cxnSp>
        <p:nvCxnSpPr>
          <p:cNvPr id="62" name="Google Shape;97;p14">
            <a:extLst>
              <a:ext uri="{FF2B5EF4-FFF2-40B4-BE49-F238E27FC236}">
                <a16:creationId xmlns:a16="http://schemas.microsoft.com/office/drawing/2014/main" xmlns="" id="{D976D964-D407-3B31-D2F5-4C2D37674A2A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xmlns="" id="{33504E58-B14F-2258-CBAA-A852490DC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64" name="Date Placeholder 1">
            <a:extLst>
              <a:ext uri="{FF2B5EF4-FFF2-40B4-BE49-F238E27FC236}">
                <a16:creationId xmlns:a16="http://schemas.microsoft.com/office/drawing/2014/main" xmlns="" id="{7E5ABF84-15FC-CFEF-9EEC-4EB30963AADA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lide Number Placeholder 10">
            <a:extLst>
              <a:ext uri="{FF2B5EF4-FFF2-40B4-BE49-F238E27FC236}">
                <a16:creationId xmlns:a16="http://schemas.microsoft.com/office/drawing/2014/main" xmlns="" id="{21282F23-6C03-9BED-C781-B8FA5AAA68F3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27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807" y="132514"/>
            <a:ext cx="11155680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— Gate 2 Sheet, Theme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7541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and Interfaces  ·  10 marks  ·  Sprint 1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4807" y="1039697"/>
            <a:ext cx="64008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247" y="10396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24887" y="1039697"/>
            <a:ext cx="502920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16327" y="10396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must bring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54087" y="1039697"/>
            <a:ext cx="73152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45527" y="10396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85607" y="1039697"/>
            <a:ext cx="77724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77047" y="10396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62847" y="1039697"/>
            <a:ext cx="228600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54287" y="10396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it 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48847" y="1039697"/>
            <a:ext cx="86868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40287" y="10396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17527" y="1039697"/>
            <a:ext cx="86868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08967" y="10396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807" y="1496897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247" y="14968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24887" y="1496897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16327" y="14968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of the four engines and what each one does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54087" y="1496897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45527" y="14968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85607" y="1496897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77047" y="14968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62847" y="1496897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54287" y="14968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48847" y="14968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40287" y="14968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17527" y="14968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908967" y="14968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807" y="1954097"/>
            <a:ext cx="640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247" y="19540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24887" y="1954097"/>
            <a:ext cx="5029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16327" y="19540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 diagram with keys, links and constraints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54087" y="1954097"/>
            <a:ext cx="731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45527" y="19540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85607" y="1954097"/>
            <a:ext cx="77724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77047" y="19540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62847" y="1954097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54287" y="19540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48847" y="19540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40287" y="19540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17527" y="19540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908967" y="19540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84807" y="2411297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6247" y="24112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24887" y="2411297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216327" y="24112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each engine sends the others, written down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54087" y="2411297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45527" y="24112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885607" y="2411297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77047" y="24112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662847" y="2411297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54287" y="24112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948847" y="24112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040287" y="24112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817527" y="24112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908967" y="24112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2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84807" y="2868497"/>
            <a:ext cx="640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76247" y="28684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A4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24887" y="2868497"/>
            <a:ext cx="5029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216327" y="28684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main logic written as numbered steps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54087" y="2868497"/>
            <a:ext cx="731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245527" y="28684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885607" y="2868497"/>
            <a:ext cx="77724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77047" y="28684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662847" y="2868497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754287" y="28684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948847" y="28684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040287" y="28684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817527" y="28684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908967" y="28684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1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84807" y="3325697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76247" y="33256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A5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124887" y="3325697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216327" y="33256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Map v2 — where each subject shows up, with file names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154087" y="3325697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245527" y="33256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885607" y="3325697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977047" y="33256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662847" y="3325697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754287" y="33256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948847" y="33256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040287" y="33256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0817527" y="33256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908967" y="33256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1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484807" y="3782897"/>
            <a:ext cx="640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76247" y="37828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124887" y="3782897"/>
            <a:ext cx="5029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216327" y="37828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for Theme 1 — Rule-Checked Records Register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6154087" y="3782897"/>
            <a:ext cx="731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245527" y="37828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6885607" y="3782897"/>
            <a:ext cx="77724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977047" y="37828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7662847" y="3782897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754287" y="37828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9948847" y="37828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040287" y="37828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10817527" y="37828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908967" y="37828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484807" y="4240097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76247" y="42400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B1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1124887" y="4240097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216327" y="42400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 values kept in a table, not typed inside the code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6154087" y="4240097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245527" y="42400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6885607" y="4240097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977047" y="42400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7662847" y="4240097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754287" y="42400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9948847" y="42400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0040287" y="42400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10817527" y="42400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0908967" y="42400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1</a:t>
            </a:r>
            <a:endParaRPr lang="en-US" sz="1600" dirty="0"/>
          </a:p>
        </p:txBody>
      </p:sp>
      <p:sp>
        <p:nvSpPr>
          <p:cNvPr id="116" name="Shape 114"/>
          <p:cNvSpPr/>
          <p:nvPr/>
        </p:nvSpPr>
        <p:spPr>
          <a:xfrm>
            <a:off x="484807" y="4697297"/>
            <a:ext cx="640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76247" y="46972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B2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1124887" y="4697297"/>
            <a:ext cx="5029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216327" y="46972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each rule, where it is checked: form, code or database</a:t>
            </a:r>
            <a:endParaRPr lang="en-US" sz="1600" dirty="0"/>
          </a:p>
        </p:txBody>
      </p:sp>
      <p:sp>
        <p:nvSpPr>
          <p:cNvPr id="120" name="Shape 118"/>
          <p:cNvSpPr/>
          <p:nvPr/>
        </p:nvSpPr>
        <p:spPr>
          <a:xfrm>
            <a:off x="6154087" y="4697297"/>
            <a:ext cx="73152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245527" y="46972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</a:t>
            </a:r>
            <a:endParaRPr lang="en-US" sz="1600" dirty="0"/>
          </a:p>
        </p:txBody>
      </p:sp>
      <p:sp>
        <p:nvSpPr>
          <p:cNvPr id="122" name="Shape 120"/>
          <p:cNvSpPr/>
          <p:nvPr/>
        </p:nvSpPr>
        <p:spPr>
          <a:xfrm>
            <a:off x="6885607" y="4697297"/>
            <a:ext cx="77724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6977047" y="46972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7662847" y="4697297"/>
            <a:ext cx="22860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7754287" y="46972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6" name="Shape 124"/>
          <p:cNvSpPr/>
          <p:nvPr/>
        </p:nvSpPr>
        <p:spPr>
          <a:xfrm>
            <a:off x="9948847" y="46972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10040287" y="46972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8" name="Shape 126"/>
          <p:cNvSpPr/>
          <p:nvPr/>
        </p:nvSpPr>
        <p:spPr>
          <a:xfrm>
            <a:off x="10817527" y="4697297"/>
            <a:ext cx="8686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0908967" y="46972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1</a:t>
            </a:r>
            <a:endParaRPr lang="en-US" sz="1600" dirty="0"/>
          </a:p>
        </p:txBody>
      </p:sp>
      <p:sp>
        <p:nvSpPr>
          <p:cNvPr id="130" name="Shape 128"/>
          <p:cNvSpPr/>
          <p:nvPr/>
        </p:nvSpPr>
        <p:spPr>
          <a:xfrm>
            <a:off x="484807" y="5154497"/>
            <a:ext cx="640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76247" y="51544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2" name="Shape 130"/>
          <p:cNvSpPr/>
          <p:nvPr/>
        </p:nvSpPr>
        <p:spPr>
          <a:xfrm>
            <a:off x="1124887" y="5154497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216327" y="5154497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</a:t>
            </a:r>
            <a:endParaRPr lang="en-US" sz="1600" dirty="0"/>
          </a:p>
        </p:txBody>
      </p:sp>
      <p:sp>
        <p:nvSpPr>
          <p:cNvPr id="134" name="Shape 132"/>
          <p:cNvSpPr/>
          <p:nvPr/>
        </p:nvSpPr>
        <p:spPr>
          <a:xfrm>
            <a:off x="6154087" y="5154497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6245527" y="51544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6" name="Shape 134"/>
          <p:cNvSpPr/>
          <p:nvPr/>
        </p:nvSpPr>
        <p:spPr>
          <a:xfrm>
            <a:off x="6885607" y="5154497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6977047" y="5154497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8" name="Shape 136"/>
          <p:cNvSpPr/>
          <p:nvPr/>
        </p:nvSpPr>
        <p:spPr>
          <a:xfrm>
            <a:off x="7662847" y="5154497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7754287" y="5154497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0" name="Shape 138"/>
          <p:cNvSpPr/>
          <p:nvPr/>
        </p:nvSpPr>
        <p:spPr>
          <a:xfrm>
            <a:off x="9948847" y="51544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0040287" y="51544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2" name="Shape 140"/>
          <p:cNvSpPr/>
          <p:nvPr/>
        </p:nvSpPr>
        <p:spPr>
          <a:xfrm>
            <a:off x="10817527" y="5154497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0908967" y="515449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10</a:t>
            </a:r>
            <a:endParaRPr lang="en-US" sz="1600" dirty="0"/>
          </a:p>
        </p:txBody>
      </p:sp>
      <p:sp>
        <p:nvSpPr>
          <p:cNvPr id="144" name="Text 142"/>
          <p:cNvSpPr txBox="1"/>
          <p:nvPr/>
        </p:nvSpPr>
        <p:spPr>
          <a:xfrm>
            <a:off x="502920" y="5818303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row names a course outcome. That is how attainment is evidenced, not asserted.</a:t>
            </a:r>
            <a:endParaRPr lang="en-US" dirty="0"/>
          </a:p>
        </p:txBody>
      </p:sp>
      <p:cxnSp>
        <p:nvCxnSpPr>
          <p:cNvPr id="145" name="Google Shape;97;p14">
            <a:extLst>
              <a:ext uri="{FF2B5EF4-FFF2-40B4-BE49-F238E27FC236}">
                <a16:creationId xmlns:a16="http://schemas.microsoft.com/office/drawing/2014/main" xmlns="" id="{9601CBB4-E8C5-20F7-B356-D55F8311A300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xmlns="" id="{00CBD771-DA64-54E4-4C5D-0A99BC370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147" name="Date Placeholder 1">
            <a:extLst>
              <a:ext uri="{FF2B5EF4-FFF2-40B4-BE49-F238E27FC236}">
                <a16:creationId xmlns:a16="http://schemas.microsoft.com/office/drawing/2014/main" xmlns="" id="{B3A49ACB-C6B9-DBB4-1623-67F21BC7BBC3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Slide Number Placeholder 10">
            <a:extLst>
              <a:ext uri="{FF2B5EF4-FFF2-40B4-BE49-F238E27FC236}">
                <a16:creationId xmlns:a16="http://schemas.microsoft.com/office/drawing/2014/main" xmlns="" id="{385C6C88-698C-C480-A788-9290EDD274BC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28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5780" y="93967"/>
            <a:ext cx="11155680" cy="486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Do in Week 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5780" y="770598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97176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9717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0180" y="77059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 a team of four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52060" y="77059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member per engine. Decide who owns Engine 1, 2, 3 and 4 now.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5780" y="1739862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194103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19410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40180" y="173986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a theme, then a title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052060" y="173986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lists in the handbook, or propose one of the same shape.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5780" y="2709126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" y="291029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" y="29102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40180" y="270912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real user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052060" y="2709126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Meet the clerk, librarian, lab instructor or coordinator who has this problem.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5780" y="3678390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" y="387955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0100" y="387955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40180" y="367839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one rule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052060" y="367839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sentence. If you cannot finish it, you do not have a project yet.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25780" y="4647654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" y="484882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0100" y="48488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40180" y="464765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 the Integration Map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052060" y="4647654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of the five subjects will show up, and where.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525780" y="5635853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9C4A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0 is in Week 2. Bring all five.</a:t>
            </a:r>
            <a:endParaRPr lang="en-US" sz="2000" dirty="0"/>
          </a:p>
        </p:txBody>
      </p:sp>
      <p:cxnSp>
        <p:nvCxnSpPr>
          <p:cNvPr id="29" name="Google Shape;97;p14">
            <a:extLst>
              <a:ext uri="{FF2B5EF4-FFF2-40B4-BE49-F238E27FC236}">
                <a16:creationId xmlns:a16="http://schemas.microsoft.com/office/drawing/2014/main" xmlns="" id="{B36EE3B1-4E11-C65A-C67F-CF8F01BA8DD0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B3C9D69A-5084-4C27-7C7A-C59FA4A99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31" name="Date Placeholder 1">
            <a:extLst>
              <a:ext uri="{FF2B5EF4-FFF2-40B4-BE49-F238E27FC236}">
                <a16:creationId xmlns:a16="http://schemas.microsoft.com/office/drawing/2014/main" xmlns="" id="{DF7DB7B6-D588-A72D-D77E-56B75017E7EE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lide Number Placeholder 10">
            <a:extLst>
              <a:ext uri="{FF2B5EF4-FFF2-40B4-BE49-F238E27FC236}">
                <a16:creationId xmlns:a16="http://schemas.microsoft.com/office/drawing/2014/main" xmlns="" id="{60E795DE-47D0-7B88-0AE3-2CA04B28266C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29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8767"/>
            <a:ext cx="11155680" cy="52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Things to Remember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39087" y="835834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407" y="106443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407" y="10644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53487" y="92727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no marks for how it looks.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53487" y="133875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colours, not animations, not a login page that fades in.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9087" y="1859962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407" y="208856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4F2F1"/>
          </a:solidFill>
          <a:ln w="12700">
            <a:solidFill>
              <a:srgbClr val="176E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407" y="20885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53487" y="195140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Documents are dated.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53487" y="236288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rule list written after the code is a description, not a plan.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9087" y="288409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407" y="311269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3ED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407" y="31126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B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53487" y="297553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may use AI. You may not submit code you cannot explain.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53487" y="338701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is the whole policy. Keep a short log of what you asked and what you changed.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9087" y="3908218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407" y="413681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1EBF5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407" y="41368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53487" y="399965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engine is yours.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53487" y="441113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every gate you answer for it alone. Those marks cannot be transferred.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9087" y="4932346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407" y="516094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407" y="51609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5C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353487" y="502378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a rule, not a project.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353487" y="543526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something someone currently gets wrong, or does slowly by hand.</a:t>
            </a:r>
            <a:endParaRPr lang="en-US" dirty="0"/>
          </a:p>
        </p:txBody>
      </p:sp>
      <p:cxnSp>
        <p:nvCxnSpPr>
          <p:cNvPr id="28" name="Google Shape;97;p14">
            <a:extLst>
              <a:ext uri="{FF2B5EF4-FFF2-40B4-BE49-F238E27FC236}">
                <a16:creationId xmlns:a16="http://schemas.microsoft.com/office/drawing/2014/main" xmlns="" id="{071D5435-ED40-0EB5-3327-FB6B5FD764F0}"/>
              </a:ext>
            </a:extLst>
          </p:cNvPr>
          <p:cNvCxnSpPr>
            <a:cxnSpLocks/>
          </p:cNvCxnSpPr>
          <p:nvPr/>
        </p:nvCxnSpPr>
        <p:spPr>
          <a:xfrm>
            <a:off x="36945" y="589715"/>
            <a:ext cx="12118109" cy="54815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906D331B-D378-D8B5-C790-A1268B4C1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568" y="47947"/>
            <a:ext cx="2255628" cy="432016"/>
          </a:xfrm>
          <a:prstGeom prst="rect">
            <a:avLst/>
          </a:prstGeom>
        </p:spPr>
      </p:pic>
      <p:sp>
        <p:nvSpPr>
          <p:cNvPr id="30" name="Date Placeholder 1">
            <a:extLst>
              <a:ext uri="{FF2B5EF4-FFF2-40B4-BE49-F238E27FC236}">
                <a16:creationId xmlns:a16="http://schemas.microsoft.com/office/drawing/2014/main" xmlns="" id="{45AE37D6-426D-4738-444D-85BB8CC47086}"/>
              </a:ext>
            </a:extLst>
          </p:cNvPr>
          <p:cNvSpPr txBox="1">
            <a:spLocks/>
          </p:cNvSpPr>
          <p:nvPr/>
        </p:nvSpPr>
        <p:spPr>
          <a:xfrm>
            <a:off x="360911" y="6464065"/>
            <a:ext cx="1015537" cy="318658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FB139-4135-4417-B579-B24306432DB7}" type="datetime1">
              <a:rPr lang="en-US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9/30/2026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lide Number Placeholder 10">
            <a:extLst>
              <a:ext uri="{FF2B5EF4-FFF2-40B4-BE49-F238E27FC236}">
                <a16:creationId xmlns:a16="http://schemas.microsoft.com/office/drawing/2014/main" xmlns="" id="{C8BD5686-5106-C485-D093-ED5FE9C91CC2}"/>
              </a:ext>
            </a:extLst>
          </p:cNvPr>
          <p:cNvSpPr txBox="1">
            <a:spLocks/>
          </p:cNvSpPr>
          <p:nvPr/>
        </p:nvSpPr>
        <p:spPr>
          <a:xfrm>
            <a:off x="11640487" y="6481148"/>
            <a:ext cx="551513" cy="28289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0000000-1234-1234-1234-123412341234}" type="slidenum">
              <a:rPr lang="en-IN" sz="14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30</a:t>
            </a:fld>
            <a:endParaRPr lang="en-IN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</TotalTime>
  <Words>4866</Words>
  <Application>Microsoft Office PowerPoint</Application>
  <PresentationFormat>Widescreen</PresentationFormat>
  <Paragraphs>834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9</cp:revision>
  <dcterms:created xsi:type="dcterms:W3CDTF">2026-09-26T04:34:00Z</dcterms:created>
  <dcterms:modified xsi:type="dcterms:W3CDTF">2026-09-30T07:33:03Z</dcterms:modified>
</cp:coreProperties>
</file>